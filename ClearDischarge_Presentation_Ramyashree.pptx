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This presentation covers Topic 2 — Clinical Decision Making and Agentic AI. The proof of concept is ClearDischarge, a system that demonstrates classification, agentic routing, readmission risk prediction, and time-series anomaly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concrete and measurable. 1 in 5 Medicare patients returns within 30 days. The discharge note is the last communication they get — and most can't understand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core primitives from Topic 2 — all implemented in ClearDischarge. Note that time-series anomaly detection is now in slot 4, replacing RAG Retrieval.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Four new functions added for this assessment — all mapping to Topic 2 primitives.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Module 1 here. Show the discharge note input, the 4 sections, and point out the Agentic Router and Risk panels.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Module 2 here. Load the Critical Sample and click Analyze. Show the charts and the anomaly alerts. This is the time-series anomaly detection and pattern recognition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evaluation results. MRR and Recall confirm the retrieval is working. Readability score confirms the output is useful for patients.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concrete recommendations. ClearDischarge proves the architecture works — now Cotiviti needs to scale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these four takeaways. Invite questions. Offer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548640" y="-548640"/>
            <a:ext cx="2011680" cy="2011680"/>
          </a:xfrm>
          <a:prstGeom prst="ellipse">
            <a:avLst/>
          </a:prstGeom>
          <a:solidFill>
            <a:srgbClr val="00A896">
              <a:alpha val="25000"/>
            </a:srgbClr>
          </a:solidFill>
          <a:ln w="12700">
            <a:solidFill>
              <a:srgbClr val="00A896">
                <a:alpha val="25000"/>
              </a:srgbClr>
            </a:solidFill>
            <a:prstDash val="solid"/>
          </a:ln>
        </p:spPr>
      </p:sp>
      <p:sp>
        <p:nvSpPr>
          <p:cNvPr id="3" name="Shape 1"/>
          <p:cNvSpPr/>
          <p:nvPr/>
        </p:nvSpPr>
        <p:spPr>
          <a:xfrm>
            <a:off x="7498080" y="3657600"/>
            <a:ext cx="2194560" cy="2194560"/>
          </a:xfrm>
          <a:prstGeom prst="ellipse">
            <a:avLst/>
          </a:prstGeom>
          <a:solidFill>
            <a:srgbClr val="02C39A">
              <a:alpha val="20000"/>
            </a:srgbClr>
          </a:solidFill>
          <a:ln w="12700">
            <a:solidFill>
              <a:srgbClr val="02C39A">
                <a:alpha val="20000"/>
              </a:srgbClr>
            </a:solidFill>
            <a:prstDash val="solid"/>
          </a:ln>
        </p:spPr>
      </p:sp>
      <p:sp>
        <p:nvSpPr>
          <p:cNvPr id="4" name="Text 2"/>
          <p:cNvSpPr/>
          <p:nvPr/>
        </p:nvSpPr>
        <p:spPr>
          <a:xfrm>
            <a:off x="640080" y="822960"/>
            <a:ext cx="7863840" cy="640080"/>
          </a:xfrm>
          <a:prstGeom prst="rect">
            <a:avLst/>
          </a:prstGeom>
          <a:noFill/>
          <a:ln/>
        </p:spPr>
        <p:txBody>
          <a:bodyPr wrap="square" rtlCol="0" anchor="ctr"/>
          <a:lstStyle/>
          <a:p>
            <a:pPr indent="0" marL="0">
              <a:buNone/>
            </a:pPr>
            <a:r>
              <a:rPr lang="en-US" sz="2800" b="1" dirty="0">
                <a:solidFill>
                  <a:srgbClr val="00A896"/>
                </a:solidFill>
                <a:latin typeface="Arial" pitchFamily="34" charset="0"/>
                <a:ea typeface="Arial" pitchFamily="34" charset="-122"/>
                <a:cs typeface="Arial" pitchFamily="34" charset="-120"/>
              </a:rPr>
              <a:t>Clinical Decision Making &amp;</a:t>
            </a:r>
            <a:endParaRPr lang="en-US" sz="2800" dirty="0"/>
          </a:p>
        </p:txBody>
      </p:sp>
      <p:sp>
        <p:nvSpPr>
          <p:cNvPr id="5" name="Text 3"/>
          <p:cNvSpPr/>
          <p:nvPr/>
        </p:nvSpPr>
        <p:spPr>
          <a:xfrm>
            <a:off x="640080" y="1417320"/>
            <a:ext cx="786384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Pattern Recognition in Health Care</a:t>
            </a:r>
            <a:endParaRPr lang="en-US" sz="2800" dirty="0"/>
          </a:p>
        </p:txBody>
      </p:sp>
      <p:sp>
        <p:nvSpPr>
          <p:cNvPr id="6" name="Text 4"/>
          <p:cNvSpPr/>
          <p:nvPr/>
        </p:nvSpPr>
        <p:spPr>
          <a:xfrm>
            <a:off x="640080" y="2148840"/>
            <a:ext cx="7863840" cy="365760"/>
          </a:xfrm>
          <a:prstGeom prst="rect">
            <a:avLst/>
          </a:prstGeom>
          <a:noFill/>
          <a:ln/>
        </p:spPr>
        <p:txBody>
          <a:bodyPr wrap="square" rtlCol="0" anchor="ctr"/>
          <a:lstStyle/>
          <a:p>
            <a:pPr indent="0" marL="0">
              <a:buNone/>
            </a:pPr>
            <a:r>
              <a:rPr lang="en-US" sz="1600" i="1" dirty="0">
                <a:solidFill>
                  <a:srgbClr val="8899AA"/>
                </a:solidFill>
                <a:latin typeface="Arial" pitchFamily="34" charset="0"/>
                <a:ea typeface="Arial" pitchFamily="34" charset="-122"/>
                <a:cs typeface="Arial" pitchFamily="34" charset="-120"/>
              </a:rPr>
              <a:t>Agentic AI for Healthcare — Treatment, Payment &amp; Operations</a:t>
            </a:r>
            <a:endParaRPr lang="en-US" sz="1600" dirty="0"/>
          </a:p>
        </p:txBody>
      </p:sp>
      <p:sp>
        <p:nvSpPr>
          <p:cNvPr id="7" name="Shape 5"/>
          <p:cNvSpPr/>
          <p:nvPr/>
        </p:nvSpPr>
        <p:spPr>
          <a:xfrm>
            <a:off x="640080" y="2651760"/>
            <a:ext cx="1097280" cy="54864"/>
          </a:xfrm>
          <a:prstGeom prst="rect">
            <a:avLst/>
          </a:prstGeom>
          <a:solidFill>
            <a:srgbClr val="00A896"/>
          </a:solidFill>
          <a:ln w="12700">
            <a:solidFill>
              <a:srgbClr val="00A896"/>
            </a:solidFill>
            <a:prstDash val="solid"/>
          </a:ln>
        </p:spPr>
      </p:sp>
      <p:sp>
        <p:nvSpPr>
          <p:cNvPr id="8" name="Text 6"/>
          <p:cNvSpPr/>
          <p:nvPr/>
        </p:nvSpPr>
        <p:spPr>
          <a:xfrm>
            <a:off x="640080" y="2880360"/>
            <a:ext cx="7863840" cy="320040"/>
          </a:xfrm>
          <a:prstGeom prst="rect">
            <a:avLst/>
          </a:prstGeom>
          <a:noFill/>
          <a:ln/>
        </p:spPr>
        <p:txBody>
          <a:bodyPr wrap="square" rtlCol="0" anchor="ctr"/>
          <a:lstStyle/>
          <a:p>
            <a:pPr indent="0" marL="0">
              <a:buNone/>
            </a:pPr>
            <a:r>
              <a:rPr lang="en-US" sz="1300" dirty="0">
                <a:solidFill>
                  <a:srgbClr val="8899AA"/>
                </a:solidFill>
                <a:latin typeface="Arial" pitchFamily="34" charset="0"/>
                <a:ea typeface="Arial" pitchFamily="34" charset="-122"/>
                <a:cs typeface="Arial" pitchFamily="34" charset="-120"/>
              </a:rPr>
              <a:t>Fnu Ramyashree  |  Cotiviti Intern Assessment  |  2026</a:t>
            </a:r>
            <a:endParaRPr lang="en-US" sz="1300" dirty="0"/>
          </a:p>
        </p:txBody>
      </p:sp>
      <p:sp>
        <p:nvSpPr>
          <p:cNvPr id="9" name="Text 7"/>
          <p:cNvSpPr/>
          <p:nvPr/>
        </p:nvSpPr>
        <p:spPr>
          <a:xfrm>
            <a:off x="640080" y="3291840"/>
            <a:ext cx="7863840" cy="320040"/>
          </a:xfrm>
          <a:prstGeom prst="rect">
            <a:avLst/>
          </a:prstGeom>
          <a:noFill/>
          <a:ln/>
        </p:spPr>
        <p:txBody>
          <a:bodyPr wrap="square" rtlCol="0" anchor="ctr"/>
          <a:lstStyle/>
          <a:p>
            <a:pPr indent="0" marL="0">
              <a:buNone/>
            </a:pPr>
            <a:r>
              <a:rPr lang="en-US" sz="1300" dirty="0">
                <a:solidFill>
                  <a:srgbClr val="00A896"/>
                </a:solidFill>
                <a:latin typeface="Arial" pitchFamily="34" charset="0"/>
                <a:ea typeface="Arial" pitchFamily="34" charset="-122"/>
                <a:cs typeface="Arial" pitchFamily="34" charset="-120"/>
              </a:rPr>
              <a:t>Proof of Concept: ClearDischarge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000" b="1" dirty="0">
                <a:solidFill>
                  <a:srgbClr val="0D1B2A"/>
                </a:solidFill>
                <a:latin typeface="Arial" pitchFamily="34" charset="0"/>
                <a:ea typeface="Arial" pitchFamily="34" charset="-122"/>
                <a:cs typeface="Arial" pitchFamily="34" charset="-120"/>
              </a:rPr>
              <a:t>The Problem We're Solving</a:t>
            </a:r>
            <a:endParaRPr lang="en-US" sz="3000" dirty="0"/>
          </a:p>
        </p:txBody>
      </p:sp>
      <p:sp>
        <p:nvSpPr>
          <p:cNvPr id="3" name="Shape 1"/>
          <p:cNvSpPr/>
          <p:nvPr/>
        </p:nvSpPr>
        <p:spPr>
          <a:xfrm>
            <a:off x="457200" y="1005840"/>
            <a:ext cx="2651760" cy="2377440"/>
          </a:xfrm>
          <a:prstGeom prst="roundRect">
            <a:avLst>
              <a:gd name="adj" fmla="val 4615"/>
            </a:avLst>
          </a:prstGeom>
          <a:solidFill>
            <a:srgbClr val="FFFFFF"/>
          </a:solidFill>
          <a:ln w="12700">
            <a:solidFill>
              <a:srgbClr val="E0E8F0"/>
            </a:solidFill>
            <a:prstDash val="solid"/>
          </a:ln>
          <a:effectLst>
            <a:outerShdw sx="100000" sy="100000" kx="0" ky="0" algn="bl" rotWithShape="0" blurRad="63500" dist="25400" dir="2700000">
              <a:srgbClr val="000000">
                <a:alpha val="13000"/>
              </a:srgbClr>
            </a:outerShdw>
          </a:effectLst>
        </p:spPr>
      </p:sp>
      <p:sp>
        <p:nvSpPr>
          <p:cNvPr id="4" name="Shape 2"/>
          <p:cNvSpPr/>
          <p:nvPr/>
        </p:nvSpPr>
        <p:spPr>
          <a:xfrm>
            <a:off x="457200" y="1005840"/>
            <a:ext cx="2651760" cy="109728"/>
          </a:xfrm>
          <a:prstGeom prst="rect">
            <a:avLst/>
          </a:prstGeom>
          <a:solidFill>
            <a:srgbClr val="00A896"/>
          </a:solidFill>
          <a:ln w="12700">
            <a:solidFill>
              <a:srgbClr val="00A896"/>
            </a:solidFill>
            <a:prstDash val="solid"/>
          </a:ln>
        </p:spPr>
      </p:sp>
      <p:sp>
        <p:nvSpPr>
          <p:cNvPr id="5" name="Text 3"/>
          <p:cNvSpPr/>
          <p:nvPr/>
        </p:nvSpPr>
        <p:spPr>
          <a:xfrm>
            <a:off x="457200" y="1234440"/>
            <a:ext cx="2651760" cy="777240"/>
          </a:xfrm>
          <a:prstGeom prst="rect">
            <a:avLst/>
          </a:prstGeom>
          <a:noFill/>
          <a:ln/>
        </p:spPr>
        <p:txBody>
          <a:bodyPr wrap="square" rtlCol="0" anchor="ctr"/>
          <a:lstStyle/>
          <a:p>
            <a:pPr algn="ctr" indent="0" marL="0">
              <a:buNone/>
            </a:pPr>
            <a:r>
              <a:rPr lang="en-US" sz="3800" b="1" dirty="0">
                <a:solidFill>
                  <a:srgbClr val="0D1B2A"/>
                </a:solidFill>
                <a:latin typeface="Arial" pitchFamily="34" charset="0"/>
                <a:ea typeface="Arial" pitchFamily="34" charset="-122"/>
                <a:cs typeface="Arial" pitchFamily="34" charset="-120"/>
              </a:rPr>
              <a:t>1 in 5</a:t>
            </a:r>
            <a:endParaRPr lang="en-US" sz="3800" dirty="0"/>
          </a:p>
        </p:txBody>
      </p:sp>
      <p:sp>
        <p:nvSpPr>
          <p:cNvPr id="6" name="Text 4"/>
          <p:cNvSpPr/>
          <p:nvPr/>
        </p:nvSpPr>
        <p:spPr>
          <a:xfrm>
            <a:off x="548640" y="2103120"/>
            <a:ext cx="2468880" cy="1005840"/>
          </a:xfrm>
          <a:prstGeom prst="rect">
            <a:avLst/>
          </a:prstGeom>
          <a:noFill/>
          <a:ln/>
        </p:spPr>
        <p:txBody>
          <a:bodyPr wrap="square" rtlCol="0" anchor="ctr"/>
          <a:lstStyle/>
          <a:p>
            <a:pPr algn="ctr" indent="0" marL="0">
              <a:buNone/>
            </a:pPr>
            <a:r>
              <a:rPr lang="en-US" sz="1300" dirty="0">
                <a:solidFill>
                  <a:srgbClr val="2D3A4A"/>
                </a:solidFill>
                <a:latin typeface="Arial" pitchFamily="34" charset="0"/>
                <a:ea typeface="Arial" pitchFamily="34" charset="-122"/>
                <a:cs typeface="Arial" pitchFamily="34" charset="-120"/>
              </a:rPr>
              <a:t>Medicare patients readmitted</a:t>
            </a:r>
            <a:endParaRPr lang="en-US" sz="1300" dirty="0"/>
          </a:p>
          <a:p>
            <a:pPr algn="ctr" indent="0" marL="0">
              <a:buNone/>
            </a:pPr>
            <a:r>
              <a:rPr lang="en-US" sz="1300" dirty="0">
                <a:solidFill>
                  <a:srgbClr val="2D3A4A"/>
                </a:solidFill>
                <a:latin typeface="Arial" pitchFamily="34" charset="0"/>
                <a:ea typeface="Arial" pitchFamily="34" charset="-122"/>
                <a:cs typeface="Arial" pitchFamily="34" charset="-120"/>
              </a:rPr>
              <a:t>within 30 days of discharge</a:t>
            </a:r>
            <a:endParaRPr lang="en-US" sz="1300" dirty="0"/>
          </a:p>
        </p:txBody>
      </p:sp>
      <p:sp>
        <p:nvSpPr>
          <p:cNvPr id="7" name="Shape 5"/>
          <p:cNvSpPr/>
          <p:nvPr/>
        </p:nvSpPr>
        <p:spPr>
          <a:xfrm>
            <a:off x="3429000" y="1005840"/>
            <a:ext cx="2651760" cy="2377440"/>
          </a:xfrm>
          <a:prstGeom prst="roundRect">
            <a:avLst>
              <a:gd name="adj" fmla="val 4615"/>
            </a:avLst>
          </a:prstGeom>
          <a:solidFill>
            <a:srgbClr val="FFFFFF"/>
          </a:solidFill>
          <a:ln w="12700">
            <a:solidFill>
              <a:srgbClr val="E0E8F0"/>
            </a:solidFill>
            <a:prstDash val="solid"/>
          </a:ln>
          <a:effectLst>
            <a:outerShdw sx="100000" sy="100000" kx="0" ky="0" algn="bl" rotWithShape="0" blurRad="63500" dist="25400" dir="2700000">
              <a:srgbClr val="000000">
                <a:alpha val="13000"/>
              </a:srgbClr>
            </a:outerShdw>
          </a:effectLst>
        </p:spPr>
      </p:sp>
      <p:sp>
        <p:nvSpPr>
          <p:cNvPr id="8" name="Shape 6"/>
          <p:cNvSpPr/>
          <p:nvPr/>
        </p:nvSpPr>
        <p:spPr>
          <a:xfrm>
            <a:off x="3429000" y="1005840"/>
            <a:ext cx="2651760" cy="109728"/>
          </a:xfrm>
          <a:prstGeom prst="rect">
            <a:avLst/>
          </a:prstGeom>
          <a:solidFill>
            <a:srgbClr val="00A896"/>
          </a:solidFill>
          <a:ln w="12700">
            <a:solidFill>
              <a:srgbClr val="00A896"/>
            </a:solidFill>
            <a:prstDash val="solid"/>
          </a:ln>
        </p:spPr>
      </p:sp>
      <p:sp>
        <p:nvSpPr>
          <p:cNvPr id="9" name="Text 7"/>
          <p:cNvSpPr/>
          <p:nvPr/>
        </p:nvSpPr>
        <p:spPr>
          <a:xfrm>
            <a:off x="3429000" y="1234440"/>
            <a:ext cx="2651760" cy="777240"/>
          </a:xfrm>
          <a:prstGeom prst="rect">
            <a:avLst/>
          </a:prstGeom>
          <a:noFill/>
          <a:ln/>
        </p:spPr>
        <p:txBody>
          <a:bodyPr wrap="square" rtlCol="0" anchor="ctr"/>
          <a:lstStyle/>
          <a:p>
            <a:pPr algn="ctr" indent="0" marL="0">
              <a:buNone/>
            </a:pPr>
            <a:r>
              <a:rPr lang="en-US" sz="3800" b="1" dirty="0">
                <a:solidFill>
                  <a:srgbClr val="0D1B2A"/>
                </a:solidFill>
                <a:latin typeface="Arial" pitchFamily="34" charset="0"/>
                <a:ea typeface="Arial" pitchFamily="34" charset="-122"/>
                <a:cs typeface="Arial" pitchFamily="34" charset="-120"/>
              </a:rPr>
              <a:t>$17.4B</a:t>
            </a:r>
            <a:endParaRPr lang="en-US" sz="3800" dirty="0"/>
          </a:p>
        </p:txBody>
      </p:sp>
      <p:sp>
        <p:nvSpPr>
          <p:cNvPr id="10" name="Text 8"/>
          <p:cNvSpPr/>
          <p:nvPr/>
        </p:nvSpPr>
        <p:spPr>
          <a:xfrm>
            <a:off x="3520440" y="2103120"/>
            <a:ext cx="2468880" cy="1005840"/>
          </a:xfrm>
          <a:prstGeom prst="rect">
            <a:avLst/>
          </a:prstGeom>
          <a:noFill/>
          <a:ln/>
        </p:spPr>
        <p:txBody>
          <a:bodyPr wrap="square" rtlCol="0" anchor="ctr"/>
          <a:lstStyle/>
          <a:p>
            <a:pPr algn="ctr" indent="0" marL="0">
              <a:buNone/>
            </a:pPr>
            <a:r>
              <a:rPr lang="en-US" sz="1300" dirty="0">
                <a:solidFill>
                  <a:srgbClr val="2D3A4A"/>
                </a:solidFill>
                <a:latin typeface="Arial" pitchFamily="34" charset="0"/>
                <a:ea typeface="Arial" pitchFamily="34" charset="-122"/>
                <a:cs typeface="Arial" pitchFamily="34" charset="-120"/>
              </a:rPr>
              <a:t>Annual Medicare cost of</a:t>
            </a:r>
            <a:endParaRPr lang="en-US" sz="1300" dirty="0"/>
          </a:p>
          <a:p>
            <a:pPr algn="ctr" indent="0" marL="0">
              <a:buNone/>
            </a:pPr>
            <a:r>
              <a:rPr lang="en-US" sz="1300" dirty="0">
                <a:solidFill>
                  <a:srgbClr val="2D3A4A"/>
                </a:solidFill>
                <a:latin typeface="Arial" pitchFamily="34" charset="0"/>
                <a:ea typeface="Arial" pitchFamily="34" charset="-122"/>
                <a:cs typeface="Arial" pitchFamily="34" charset="-120"/>
              </a:rPr>
              <a:t>preventable readmissions</a:t>
            </a:r>
            <a:endParaRPr lang="en-US" sz="1300" dirty="0"/>
          </a:p>
        </p:txBody>
      </p:sp>
      <p:sp>
        <p:nvSpPr>
          <p:cNvPr id="11" name="Shape 9"/>
          <p:cNvSpPr/>
          <p:nvPr/>
        </p:nvSpPr>
        <p:spPr>
          <a:xfrm>
            <a:off x="6400800" y="1005840"/>
            <a:ext cx="2651760" cy="2377440"/>
          </a:xfrm>
          <a:prstGeom prst="roundRect">
            <a:avLst>
              <a:gd name="adj" fmla="val 4615"/>
            </a:avLst>
          </a:prstGeom>
          <a:solidFill>
            <a:srgbClr val="FFFFFF"/>
          </a:solidFill>
          <a:ln w="12700">
            <a:solidFill>
              <a:srgbClr val="E0E8F0"/>
            </a:solidFill>
            <a:prstDash val="solid"/>
          </a:ln>
          <a:effectLst>
            <a:outerShdw sx="100000" sy="100000" kx="0" ky="0" algn="bl" rotWithShape="0" blurRad="63500" dist="25400" dir="2700000">
              <a:srgbClr val="000000">
                <a:alpha val="13000"/>
              </a:srgbClr>
            </a:outerShdw>
          </a:effectLst>
        </p:spPr>
      </p:sp>
      <p:sp>
        <p:nvSpPr>
          <p:cNvPr id="12" name="Shape 10"/>
          <p:cNvSpPr/>
          <p:nvPr/>
        </p:nvSpPr>
        <p:spPr>
          <a:xfrm>
            <a:off x="6400800" y="1005840"/>
            <a:ext cx="2651760" cy="109728"/>
          </a:xfrm>
          <a:prstGeom prst="rect">
            <a:avLst/>
          </a:prstGeom>
          <a:solidFill>
            <a:srgbClr val="00A896"/>
          </a:solidFill>
          <a:ln w="12700">
            <a:solidFill>
              <a:srgbClr val="00A896"/>
            </a:solidFill>
            <a:prstDash val="solid"/>
          </a:ln>
        </p:spPr>
      </p:sp>
      <p:sp>
        <p:nvSpPr>
          <p:cNvPr id="13" name="Text 11"/>
          <p:cNvSpPr/>
          <p:nvPr/>
        </p:nvSpPr>
        <p:spPr>
          <a:xfrm>
            <a:off x="6400800" y="1234440"/>
            <a:ext cx="2651760" cy="777240"/>
          </a:xfrm>
          <a:prstGeom prst="rect">
            <a:avLst/>
          </a:prstGeom>
          <a:noFill/>
          <a:ln/>
        </p:spPr>
        <p:txBody>
          <a:bodyPr wrap="square" rtlCol="0" anchor="ctr"/>
          <a:lstStyle/>
          <a:p>
            <a:pPr algn="ctr" indent="0" marL="0">
              <a:buNone/>
            </a:pPr>
            <a:r>
              <a:rPr lang="en-US" sz="3800" b="1" dirty="0">
                <a:solidFill>
                  <a:srgbClr val="0D1B2A"/>
                </a:solidFill>
                <a:latin typeface="Arial" pitchFamily="34" charset="0"/>
                <a:ea typeface="Arial" pitchFamily="34" charset="-122"/>
                <a:cs typeface="Arial" pitchFamily="34" charset="-120"/>
              </a:rPr>
              <a:t>9th grade</a:t>
            </a:r>
            <a:endParaRPr lang="en-US" sz="3800" dirty="0"/>
          </a:p>
        </p:txBody>
      </p:sp>
      <p:sp>
        <p:nvSpPr>
          <p:cNvPr id="14" name="Text 12"/>
          <p:cNvSpPr/>
          <p:nvPr/>
        </p:nvSpPr>
        <p:spPr>
          <a:xfrm>
            <a:off x="6492240" y="2103120"/>
            <a:ext cx="2468880" cy="1005840"/>
          </a:xfrm>
          <a:prstGeom prst="rect">
            <a:avLst/>
          </a:prstGeom>
          <a:noFill/>
          <a:ln/>
        </p:spPr>
        <p:txBody>
          <a:bodyPr wrap="square" rtlCol="0" anchor="ctr"/>
          <a:lstStyle/>
          <a:p>
            <a:pPr algn="ctr" indent="0" marL="0">
              <a:buNone/>
            </a:pPr>
            <a:r>
              <a:rPr lang="en-US" sz="1300" dirty="0">
                <a:solidFill>
                  <a:srgbClr val="2D3A4A"/>
                </a:solidFill>
                <a:latin typeface="Arial" pitchFamily="34" charset="0"/>
                <a:ea typeface="Arial" pitchFamily="34" charset="-122"/>
                <a:cs typeface="Arial" pitchFamily="34" charset="-120"/>
              </a:rPr>
              <a:t>Reading level of discharge notes</a:t>
            </a:r>
            <a:endParaRPr lang="en-US" sz="1300" dirty="0"/>
          </a:p>
          <a:p>
            <a:pPr algn="ctr" indent="0" marL="0">
              <a:buNone/>
            </a:pPr>
            <a:r>
              <a:rPr lang="en-US" sz="1300" dirty="0">
                <a:solidFill>
                  <a:srgbClr val="2D3A4A"/>
                </a:solidFill>
                <a:latin typeface="Arial" pitchFamily="34" charset="0"/>
                <a:ea typeface="Arial" pitchFamily="34" charset="-122"/>
                <a:cs typeface="Arial" pitchFamily="34" charset="-120"/>
              </a:rPr>
              <a:t>vs. 6th grade average literacy</a:t>
            </a:r>
            <a:endParaRPr lang="en-US" sz="1300" dirty="0"/>
          </a:p>
        </p:txBody>
      </p:sp>
      <p:sp>
        <p:nvSpPr>
          <p:cNvPr id="15" name="Text 13"/>
          <p:cNvSpPr/>
          <p:nvPr/>
        </p:nvSpPr>
        <p:spPr>
          <a:xfrm>
            <a:off x="457200" y="3611880"/>
            <a:ext cx="8229600" cy="594360"/>
          </a:xfrm>
          <a:prstGeom prst="rect">
            <a:avLst/>
          </a:prstGeom>
          <a:noFill/>
          <a:ln/>
        </p:spPr>
        <p:txBody>
          <a:bodyPr wrap="square" rtlCol="0" anchor="ctr"/>
          <a:lstStyle/>
          <a:p>
            <a:pPr algn="ctr" indent="0" marL="0">
              <a:buNone/>
            </a:pPr>
            <a:r>
              <a:rPr lang="en-US" sz="1400" i="1" dirty="0">
                <a:solidFill>
                  <a:srgbClr val="2D3A4A"/>
                </a:solidFill>
                <a:latin typeface="Arial" pitchFamily="34" charset="0"/>
                <a:ea typeface="Arial" pitchFamily="34" charset="-122"/>
                <a:cs typeface="Arial" pitchFamily="34" charset="-120"/>
              </a:rPr>
              <a:t>Most readmissions are preventable — patients didn't understand their discharge instructions,</a:t>
            </a:r>
            <a:endParaRPr lang="en-US" sz="1400" dirty="0"/>
          </a:p>
          <a:p>
            <a:pPr algn="ctr" indent="0" marL="0">
              <a:buNone/>
            </a:pPr>
            <a:r>
              <a:rPr lang="en-US" sz="1400" i="1" dirty="0">
                <a:solidFill>
                  <a:srgbClr val="2D3A4A"/>
                </a:solidFill>
                <a:latin typeface="Arial" pitchFamily="34" charset="0"/>
                <a:ea typeface="Arial" pitchFamily="34" charset="-122"/>
                <a:cs typeface="Arial" pitchFamily="34" charset="-120"/>
              </a:rPr>
              <a:t>missed a follow-up, or didn't recognize a warning sign in time.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3000" b="1" dirty="0">
                <a:solidFill>
                  <a:srgbClr val="0D1B2A"/>
                </a:solidFill>
                <a:latin typeface="Arial" pitchFamily="34" charset="0"/>
                <a:ea typeface="Arial" pitchFamily="34" charset="-122"/>
                <a:cs typeface="Arial" pitchFamily="34" charset="-120"/>
              </a:rPr>
              <a:t>What Is Agentic AI in Healthcare?</a:t>
            </a:r>
            <a:endParaRPr lang="en-US" sz="3000" dirty="0"/>
          </a:p>
        </p:txBody>
      </p:sp>
      <p:sp>
        <p:nvSpPr>
          <p:cNvPr id="3" name="Shape 1"/>
          <p:cNvSpPr/>
          <p:nvPr/>
        </p:nvSpPr>
        <p:spPr>
          <a:xfrm>
            <a:off x="365760" y="960120"/>
            <a:ext cx="4023360" cy="3566160"/>
          </a:xfrm>
          <a:prstGeom prst="roundRect">
            <a:avLst>
              <a:gd name="adj" fmla="val 3846"/>
            </a:avLst>
          </a:prstGeom>
          <a:solidFill>
            <a:srgbClr val="0D1B2A"/>
          </a:solidFill>
          <a:ln w="12700">
            <a:solidFill>
              <a:srgbClr val="0D1B2A"/>
            </a:solidFill>
            <a:prstDash val="solid"/>
          </a:ln>
        </p:spPr>
      </p:sp>
      <p:sp>
        <p:nvSpPr>
          <p:cNvPr id="4" name="Text 2"/>
          <p:cNvSpPr/>
          <p:nvPr/>
        </p:nvSpPr>
        <p:spPr>
          <a:xfrm>
            <a:off x="457200" y="1097280"/>
            <a:ext cx="3840480" cy="457200"/>
          </a:xfrm>
          <a:prstGeom prst="rect">
            <a:avLst/>
          </a:prstGeom>
          <a:noFill/>
          <a:ln/>
        </p:spPr>
        <p:txBody>
          <a:bodyPr wrap="square" rtlCol="0" anchor="ctr"/>
          <a:lstStyle/>
          <a:p>
            <a:pPr indent="0" marL="0">
              <a:buNone/>
            </a:pPr>
            <a:r>
              <a:rPr lang="en-US" sz="1600" b="1" dirty="0">
                <a:solidFill>
                  <a:srgbClr val="00A896"/>
                </a:solidFill>
                <a:latin typeface="Arial" pitchFamily="34" charset="0"/>
                <a:ea typeface="Arial" pitchFamily="34" charset="-122"/>
                <a:cs typeface="Arial" pitchFamily="34" charset="-120"/>
              </a:rPr>
              <a:t>Traditional AI vs Agentic AI</a:t>
            </a:r>
            <a:endParaRPr lang="en-US" sz="1600" dirty="0"/>
          </a:p>
        </p:txBody>
      </p:sp>
      <p:sp>
        <p:nvSpPr>
          <p:cNvPr id="5" name="Text 3"/>
          <p:cNvSpPr/>
          <p:nvPr/>
        </p:nvSpPr>
        <p:spPr>
          <a:xfrm>
            <a:off x="457200" y="1645920"/>
            <a:ext cx="3749040" cy="256032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Traditional AI:</a:t>
            </a:r>
            <a:endParaRPr lang="en-US" sz="1300" dirty="0"/>
          </a:p>
          <a:p>
            <a:pPr indent="0" marL="0">
              <a:buNone/>
            </a:pPr>
            <a:r>
              <a:rPr lang="en-US" sz="1300" dirty="0">
                <a:solidFill>
                  <a:srgbClr val="8899AA"/>
                </a:solidFill>
                <a:latin typeface="Arial" pitchFamily="34" charset="0"/>
                <a:ea typeface="Arial" pitchFamily="34" charset="-122"/>
                <a:cs typeface="Arial" pitchFamily="34" charset="-120"/>
              </a:rPr>
              <a:t>Answers one question at a time.</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300" b="1" dirty="0">
                <a:solidFill>
                  <a:srgbClr val="FFFFFF"/>
                </a:solidFill>
                <a:latin typeface="Arial" pitchFamily="34" charset="0"/>
                <a:ea typeface="Arial" pitchFamily="34" charset="-122"/>
                <a:cs typeface="Arial" pitchFamily="34" charset="-120"/>
              </a:rPr>
              <a:t>Agentic AI:</a:t>
            </a:r>
            <a:endParaRPr lang="en-US" sz="1300" dirty="0"/>
          </a:p>
          <a:p>
            <a:pPr indent="0" marL="0">
              <a:buNone/>
            </a:pPr>
            <a:r>
              <a:rPr lang="en-US" sz="1300" dirty="0">
                <a:solidFill>
                  <a:srgbClr val="8899AA"/>
                </a:solidFill>
                <a:latin typeface="Arial" pitchFamily="34" charset="0"/>
                <a:ea typeface="Arial" pitchFamily="34" charset="-122"/>
                <a:cs typeface="Arial" pitchFamily="34" charset="-120"/>
              </a:rPr>
              <a:t>Reasons through multi-step problems autonomously — classifies inputs, retrieves evidence, predicts outcomes, detects anomalies, and routes to the right workflow without a human orchestrating each step.</a:t>
            </a:r>
            <a:endParaRPr lang="en-US" sz="1300" dirty="0"/>
          </a:p>
        </p:txBody>
      </p:sp>
      <p:sp>
        <p:nvSpPr>
          <p:cNvPr id="6" name="Shape 4"/>
          <p:cNvSpPr/>
          <p:nvPr/>
        </p:nvSpPr>
        <p:spPr>
          <a:xfrm>
            <a:off x="4663440" y="960120"/>
            <a:ext cx="4114800" cy="777240"/>
          </a:xfrm>
          <a:prstGeom prst="roundRect">
            <a:avLst>
              <a:gd name="adj" fmla="val 11765"/>
            </a:avLst>
          </a:prstGeom>
          <a:solidFill>
            <a:srgbClr val="F0F4F8"/>
          </a:solidFill>
          <a:ln w="12700">
            <a:solidFill>
              <a:srgbClr val="E0E8F0"/>
            </a:solidFill>
            <a:prstDash val="solid"/>
          </a:ln>
        </p:spPr>
      </p:sp>
      <p:sp>
        <p:nvSpPr>
          <p:cNvPr id="7" name="Text 5"/>
          <p:cNvSpPr/>
          <p:nvPr/>
        </p:nvSpPr>
        <p:spPr>
          <a:xfrm>
            <a:off x="4754880" y="1033272"/>
            <a:ext cx="457200" cy="457200"/>
          </a:xfrm>
          <a:prstGeom prst="rect">
            <a:avLst/>
          </a:prstGeom>
          <a:noFill/>
          <a:ln/>
        </p:spPr>
        <p:txBody>
          <a:bodyPr wrap="square" rtlCol="0" anchor="ctr"/>
          <a:lstStyle/>
          <a:p>
            <a:pPr indent="0" marL="0">
              <a:buNone/>
            </a:pPr>
            <a:r>
              <a:rPr lang="en-US" sz="1800" b="1" dirty="0">
                <a:solidFill>
                  <a:srgbClr val="00A896"/>
                </a:solidFill>
                <a:latin typeface="Arial" pitchFamily="34" charset="0"/>
                <a:ea typeface="Arial" pitchFamily="34" charset="-122"/>
                <a:cs typeface="Arial" pitchFamily="34" charset="-120"/>
              </a:rPr>
              <a:t>01</a:t>
            </a:r>
            <a:endParaRPr lang="en-US" sz="1800" dirty="0"/>
          </a:p>
        </p:txBody>
      </p:sp>
      <p:sp>
        <p:nvSpPr>
          <p:cNvPr id="8" name="Text 6"/>
          <p:cNvSpPr/>
          <p:nvPr/>
        </p:nvSpPr>
        <p:spPr>
          <a:xfrm>
            <a:off x="5257800" y="1005840"/>
            <a:ext cx="3383280" cy="274320"/>
          </a:xfrm>
          <a:prstGeom prst="rect">
            <a:avLst/>
          </a:prstGeom>
          <a:noFill/>
          <a:ln/>
        </p:spPr>
        <p:txBody>
          <a:bodyPr wrap="square" rtlCol="0" anchor="ctr"/>
          <a:lstStyle/>
          <a:p>
            <a:pPr indent="0" marL="0">
              <a:buNone/>
            </a:pPr>
            <a:r>
              <a:rPr lang="en-US" sz="1300" b="1" dirty="0">
                <a:solidFill>
                  <a:srgbClr val="0D1B2A"/>
                </a:solidFill>
                <a:latin typeface="Arial" pitchFamily="34" charset="0"/>
                <a:ea typeface="Arial" pitchFamily="34" charset="-122"/>
                <a:cs typeface="Arial" pitchFamily="34" charset="-120"/>
              </a:rPr>
              <a:t>Classification</a:t>
            </a:r>
            <a:endParaRPr lang="en-US" sz="1300" dirty="0"/>
          </a:p>
        </p:txBody>
      </p:sp>
      <p:sp>
        <p:nvSpPr>
          <p:cNvPr id="9" name="Text 7"/>
          <p:cNvSpPr/>
          <p:nvPr/>
        </p:nvSpPr>
        <p:spPr>
          <a:xfrm>
            <a:off x="5257800" y="1307592"/>
            <a:ext cx="3383280" cy="347472"/>
          </a:xfrm>
          <a:prstGeom prst="rect">
            <a:avLst/>
          </a:prstGeom>
          <a:noFill/>
          <a:ln/>
        </p:spPr>
        <p:txBody>
          <a:bodyPr wrap="square" rtlCol="0" anchor="ctr"/>
          <a:lstStyle/>
          <a:p>
            <a:pPr indent="0" marL="0">
              <a:buNone/>
            </a:pPr>
            <a:r>
              <a:rPr lang="en-US" sz="1100" dirty="0">
                <a:solidFill>
                  <a:srgbClr val="2D3A4A"/>
                </a:solidFill>
                <a:latin typeface="Arial" pitchFamily="34" charset="0"/>
                <a:ea typeface="Arial" pitchFamily="34" charset="-122"/>
                <a:cs typeface="Arial" pitchFamily="34" charset="-120"/>
              </a:rPr>
              <a:t>Label clinical inputs by type — medication, diagnosis, follow-up, warning sign</a:t>
            </a:r>
            <a:endParaRPr lang="en-US" sz="1100" dirty="0"/>
          </a:p>
        </p:txBody>
      </p:sp>
      <p:sp>
        <p:nvSpPr>
          <p:cNvPr id="10" name="Shape 8"/>
          <p:cNvSpPr/>
          <p:nvPr/>
        </p:nvSpPr>
        <p:spPr>
          <a:xfrm>
            <a:off x="4663440" y="1856232"/>
            <a:ext cx="4114800" cy="777240"/>
          </a:xfrm>
          <a:prstGeom prst="roundRect">
            <a:avLst>
              <a:gd name="adj" fmla="val 11765"/>
            </a:avLst>
          </a:prstGeom>
          <a:solidFill>
            <a:srgbClr val="F0F4F8"/>
          </a:solidFill>
          <a:ln w="12700">
            <a:solidFill>
              <a:srgbClr val="E0E8F0"/>
            </a:solidFill>
            <a:prstDash val="solid"/>
          </a:ln>
        </p:spPr>
      </p:sp>
      <p:sp>
        <p:nvSpPr>
          <p:cNvPr id="11" name="Text 9"/>
          <p:cNvSpPr/>
          <p:nvPr/>
        </p:nvSpPr>
        <p:spPr>
          <a:xfrm>
            <a:off x="4754880" y="1929384"/>
            <a:ext cx="457200" cy="457200"/>
          </a:xfrm>
          <a:prstGeom prst="rect">
            <a:avLst/>
          </a:prstGeom>
          <a:noFill/>
          <a:ln/>
        </p:spPr>
        <p:txBody>
          <a:bodyPr wrap="square" rtlCol="0" anchor="ctr"/>
          <a:lstStyle/>
          <a:p>
            <a:pPr indent="0" marL="0">
              <a:buNone/>
            </a:pPr>
            <a:r>
              <a:rPr lang="en-US" sz="1800" b="1" dirty="0">
                <a:solidFill>
                  <a:srgbClr val="00A896"/>
                </a:solidFill>
                <a:latin typeface="Arial" pitchFamily="34" charset="0"/>
                <a:ea typeface="Arial" pitchFamily="34" charset="-122"/>
                <a:cs typeface="Arial" pitchFamily="34" charset="-120"/>
              </a:rPr>
              <a:t>02</a:t>
            </a:r>
            <a:endParaRPr lang="en-US" sz="1800" dirty="0"/>
          </a:p>
        </p:txBody>
      </p:sp>
      <p:sp>
        <p:nvSpPr>
          <p:cNvPr id="12" name="Text 10"/>
          <p:cNvSpPr/>
          <p:nvPr/>
        </p:nvSpPr>
        <p:spPr>
          <a:xfrm>
            <a:off x="5257800" y="1901952"/>
            <a:ext cx="3383280" cy="274320"/>
          </a:xfrm>
          <a:prstGeom prst="rect">
            <a:avLst/>
          </a:prstGeom>
          <a:noFill/>
          <a:ln/>
        </p:spPr>
        <p:txBody>
          <a:bodyPr wrap="square" rtlCol="0" anchor="ctr"/>
          <a:lstStyle/>
          <a:p>
            <a:pPr indent="0" marL="0">
              <a:buNone/>
            </a:pPr>
            <a:r>
              <a:rPr lang="en-US" sz="1300" b="1" dirty="0">
                <a:solidFill>
                  <a:srgbClr val="0D1B2A"/>
                </a:solidFill>
                <a:latin typeface="Arial" pitchFamily="34" charset="0"/>
                <a:ea typeface="Arial" pitchFamily="34" charset="-122"/>
                <a:cs typeface="Arial" pitchFamily="34" charset="-120"/>
              </a:rPr>
              <a:t>Chain Reasoning</a:t>
            </a:r>
            <a:endParaRPr lang="en-US" sz="1300" dirty="0"/>
          </a:p>
        </p:txBody>
      </p:sp>
      <p:sp>
        <p:nvSpPr>
          <p:cNvPr id="13" name="Text 11"/>
          <p:cNvSpPr/>
          <p:nvPr/>
        </p:nvSpPr>
        <p:spPr>
          <a:xfrm>
            <a:off x="5257800" y="2203704"/>
            <a:ext cx="3383280" cy="347472"/>
          </a:xfrm>
          <a:prstGeom prst="rect">
            <a:avLst/>
          </a:prstGeom>
          <a:noFill/>
          <a:ln/>
        </p:spPr>
        <p:txBody>
          <a:bodyPr wrap="square" rtlCol="0" anchor="ctr"/>
          <a:lstStyle/>
          <a:p>
            <a:pPr indent="0" marL="0">
              <a:buNone/>
            </a:pPr>
            <a:r>
              <a:rPr lang="en-US" sz="1100" dirty="0">
                <a:solidFill>
                  <a:srgbClr val="2D3A4A"/>
                </a:solidFill>
                <a:latin typeface="Arial" pitchFamily="34" charset="0"/>
                <a:ea typeface="Arial" pitchFamily="34" charset="-122"/>
                <a:cs typeface="Arial" pitchFamily="34" charset="-120"/>
              </a:rPr>
              <a:t>Decompose complex clinical questions into ordered inference steps</a:t>
            </a:r>
            <a:endParaRPr lang="en-US" sz="1100" dirty="0"/>
          </a:p>
        </p:txBody>
      </p:sp>
      <p:sp>
        <p:nvSpPr>
          <p:cNvPr id="14" name="Shape 12"/>
          <p:cNvSpPr/>
          <p:nvPr/>
        </p:nvSpPr>
        <p:spPr>
          <a:xfrm>
            <a:off x="4663440" y="2752344"/>
            <a:ext cx="4114800" cy="777240"/>
          </a:xfrm>
          <a:prstGeom prst="roundRect">
            <a:avLst>
              <a:gd name="adj" fmla="val 11765"/>
            </a:avLst>
          </a:prstGeom>
          <a:solidFill>
            <a:srgbClr val="F0F4F8"/>
          </a:solidFill>
          <a:ln w="12700">
            <a:solidFill>
              <a:srgbClr val="E0E8F0"/>
            </a:solidFill>
            <a:prstDash val="solid"/>
          </a:ln>
        </p:spPr>
      </p:sp>
      <p:sp>
        <p:nvSpPr>
          <p:cNvPr id="15" name="Text 13"/>
          <p:cNvSpPr/>
          <p:nvPr/>
        </p:nvSpPr>
        <p:spPr>
          <a:xfrm>
            <a:off x="4754880" y="2825496"/>
            <a:ext cx="457200" cy="457200"/>
          </a:xfrm>
          <a:prstGeom prst="rect">
            <a:avLst/>
          </a:prstGeom>
          <a:noFill/>
          <a:ln/>
        </p:spPr>
        <p:txBody>
          <a:bodyPr wrap="square" rtlCol="0" anchor="ctr"/>
          <a:lstStyle/>
          <a:p>
            <a:pPr indent="0" marL="0">
              <a:buNone/>
            </a:pPr>
            <a:r>
              <a:rPr lang="en-US" sz="1800" b="1" dirty="0">
                <a:solidFill>
                  <a:srgbClr val="00A896"/>
                </a:solidFill>
                <a:latin typeface="Arial" pitchFamily="34" charset="0"/>
                <a:ea typeface="Arial" pitchFamily="34" charset="-122"/>
                <a:cs typeface="Arial" pitchFamily="34" charset="-120"/>
              </a:rPr>
              <a:t>03</a:t>
            </a:r>
            <a:endParaRPr lang="en-US" sz="1800" dirty="0"/>
          </a:p>
        </p:txBody>
      </p:sp>
      <p:sp>
        <p:nvSpPr>
          <p:cNvPr id="16" name="Text 14"/>
          <p:cNvSpPr/>
          <p:nvPr/>
        </p:nvSpPr>
        <p:spPr>
          <a:xfrm>
            <a:off x="5257800" y="2798064"/>
            <a:ext cx="3383280" cy="274320"/>
          </a:xfrm>
          <a:prstGeom prst="rect">
            <a:avLst/>
          </a:prstGeom>
          <a:noFill/>
          <a:ln/>
        </p:spPr>
        <p:txBody>
          <a:bodyPr wrap="square" rtlCol="0" anchor="ctr"/>
          <a:lstStyle/>
          <a:p>
            <a:pPr indent="0" marL="0">
              <a:buNone/>
            </a:pPr>
            <a:r>
              <a:rPr lang="en-US" sz="1300" b="1" dirty="0">
                <a:solidFill>
                  <a:srgbClr val="0D1B2A"/>
                </a:solidFill>
                <a:latin typeface="Arial" pitchFamily="34" charset="0"/>
                <a:ea typeface="Arial" pitchFamily="34" charset="-122"/>
                <a:cs typeface="Arial" pitchFamily="34" charset="-120"/>
              </a:rPr>
              <a:t>Prediction</a:t>
            </a:r>
            <a:endParaRPr lang="en-US" sz="1300" dirty="0"/>
          </a:p>
        </p:txBody>
      </p:sp>
      <p:sp>
        <p:nvSpPr>
          <p:cNvPr id="17" name="Text 15"/>
          <p:cNvSpPr/>
          <p:nvPr/>
        </p:nvSpPr>
        <p:spPr>
          <a:xfrm>
            <a:off x="5257800" y="3099816"/>
            <a:ext cx="3383280" cy="347472"/>
          </a:xfrm>
          <a:prstGeom prst="rect">
            <a:avLst/>
          </a:prstGeom>
          <a:noFill/>
          <a:ln/>
        </p:spPr>
        <p:txBody>
          <a:bodyPr wrap="square" rtlCol="0" anchor="ctr"/>
          <a:lstStyle/>
          <a:p>
            <a:pPr indent="0" marL="0">
              <a:buNone/>
            </a:pPr>
            <a:r>
              <a:rPr lang="en-US" sz="1100" dirty="0">
                <a:solidFill>
                  <a:srgbClr val="2D3A4A"/>
                </a:solidFill>
                <a:latin typeface="Arial" pitchFamily="34" charset="0"/>
                <a:ea typeface="Arial" pitchFamily="34" charset="-122"/>
                <a:cs typeface="Arial" pitchFamily="34" charset="-120"/>
              </a:rPr>
              <a:t>Score 30-day readmission risk from comorbidity signals in discharge notes</a:t>
            </a:r>
            <a:endParaRPr lang="en-US" sz="1100" dirty="0"/>
          </a:p>
        </p:txBody>
      </p:sp>
      <p:sp>
        <p:nvSpPr>
          <p:cNvPr id="18" name="Shape 16"/>
          <p:cNvSpPr/>
          <p:nvPr/>
        </p:nvSpPr>
        <p:spPr>
          <a:xfrm>
            <a:off x="4663440" y="3648456"/>
            <a:ext cx="4114800" cy="777240"/>
          </a:xfrm>
          <a:prstGeom prst="roundRect">
            <a:avLst>
              <a:gd name="adj" fmla="val 11765"/>
            </a:avLst>
          </a:prstGeom>
          <a:solidFill>
            <a:srgbClr val="F0F4F8"/>
          </a:solidFill>
          <a:ln w="12700">
            <a:solidFill>
              <a:srgbClr val="E0E8F0"/>
            </a:solidFill>
            <a:prstDash val="solid"/>
          </a:ln>
        </p:spPr>
      </p:sp>
      <p:sp>
        <p:nvSpPr>
          <p:cNvPr id="19" name="Text 17"/>
          <p:cNvSpPr/>
          <p:nvPr/>
        </p:nvSpPr>
        <p:spPr>
          <a:xfrm>
            <a:off x="4754880" y="3721608"/>
            <a:ext cx="457200" cy="457200"/>
          </a:xfrm>
          <a:prstGeom prst="rect">
            <a:avLst/>
          </a:prstGeom>
          <a:noFill/>
          <a:ln/>
        </p:spPr>
        <p:txBody>
          <a:bodyPr wrap="square" rtlCol="0" anchor="ctr"/>
          <a:lstStyle/>
          <a:p>
            <a:pPr indent="0" marL="0">
              <a:buNone/>
            </a:pPr>
            <a:r>
              <a:rPr lang="en-US" sz="1800" b="1" dirty="0">
                <a:solidFill>
                  <a:srgbClr val="00A896"/>
                </a:solidFill>
                <a:latin typeface="Arial" pitchFamily="34" charset="0"/>
                <a:ea typeface="Arial" pitchFamily="34" charset="-122"/>
                <a:cs typeface="Arial" pitchFamily="34" charset="-120"/>
              </a:rPr>
              <a:t>04</a:t>
            </a:r>
            <a:endParaRPr lang="en-US" sz="1800" dirty="0"/>
          </a:p>
        </p:txBody>
      </p:sp>
      <p:sp>
        <p:nvSpPr>
          <p:cNvPr id="20" name="Text 18"/>
          <p:cNvSpPr/>
          <p:nvPr/>
        </p:nvSpPr>
        <p:spPr>
          <a:xfrm>
            <a:off x="5257800" y="3694176"/>
            <a:ext cx="3383280" cy="274320"/>
          </a:xfrm>
          <a:prstGeom prst="rect">
            <a:avLst/>
          </a:prstGeom>
          <a:noFill/>
          <a:ln/>
        </p:spPr>
        <p:txBody>
          <a:bodyPr wrap="square" rtlCol="0" anchor="ctr"/>
          <a:lstStyle/>
          <a:p>
            <a:pPr indent="0" marL="0">
              <a:buNone/>
            </a:pPr>
            <a:r>
              <a:rPr lang="en-US" sz="1300" b="1" dirty="0">
                <a:solidFill>
                  <a:srgbClr val="0D1B2A"/>
                </a:solidFill>
                <a:latin typeface="Arial" pitchFamily="34" charset="0"/>
                <a:ea typeface="Arial" pitchFamily="34" charset="-122"/>
                <a:cs typeface="Arial" pitchFamily="34" charset="-120"/>
              </a:rPr>
              <a:t>Time-Series Anomaly Detection</a:t>
            </a:r>
            <a:endParaRPr lang="en-US" sz="1300" dirty="0"/>
          </a:p>
        </p:txBody>
      </p:sp>
      <p:sp>
        <p:nvSpPr>
          <p:cNvPr id="21" name="Text 19"/>
          <p:cNvSpPr/>
          <p:nvPr/>
        </p:nvSpPr>
        <p:spPr>
          <a:xfrm>
            <a:off x="5257800" y="3995928"/>
            <a:ext cx="3383280" cy="347472"/>
          </a:xfrm>
          <a:prstGeom prst="rect">
            <a:avLst/>
          </a:prstGeom>
          <a:noFill/>
          <a:ln/>
        </p:spPr>
        <p:txBody>
          <a:bodyPr wrap="square" rtlCol="0" anchor="ctr"/>
          <a:lstStyle/>
          <a:p>
            <a:pPr indent="0" marL="0">
              <a:buNone/>
            </a:pPr>
            <a:r>
              <a:rPr lang="en-US" sz="1100" dirty="0">
                <a:solidFill>
                  <a:srgbClr val="2D3A4A"/>
                </a:solidFill>
                <a:latin typeface="Arial" pitchFamily="34" charset="0"/>
                <a:ea typeface="Arial" pitchFamily="34" charset="-122"/>
                <a:cs typeface="Arial" pitchFamily="34" charset="-120"/>
              </a:rPr>
              <a:t>Detect abnormal patterns in post-discharge vital sign trends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indent="0" marL="0">
              <a:buNone/>
            </a:pPr>
            <a:r>
              <a:rPr lang="en-US" sz="2800" b="1" dirty="0">
                <a:solidFill>
                  <a:srgbClr val="0D1B2A"/>
                </a:solidFill>
                <a:latin typeface="Arial" pitchFamily="34" charset="0"/>
                <a:ea typeface="Arial" pitchFamily="34" charset="-122"/>
                <a:cs typeface="Arial" pitchFamily="34" charset="-120"/>
              </a:rPr>
              <a:t>ClearDischarge — System Architecture</a:t>
            </a:r>
            <a:endParaRPr lang="en-US" sz="2800" dirty="0"/>
          </a:p>
        </p:txBody>
      </p:sp>
      <p:sp>
        <p:nvSpPr>
          <p:cNvPr id="3" name="Text 1"/>
          <p:cNvSpPr/>
          <p:nvPr/>
        </p:nvSpPr>
        <p:spPr>
          <a:xfrm>
            <a:off x="457200" y="658368"/>
            <a:ext cx="8229600" cy="292608"/>
          </a:xfrm>
          <a:prstGeom prst="rect">
            <a:avLst/>
          </a:prstGeom>
          <a:noFill/>
          <a:ln/>
        </p:spPr>
        <p:txBody>
          <a:bodyPr wrap="square" rtlCol="0" anchor="ctr"/>
          <a:lstStyle/>
          <a:p>
            <a:pPr indent="0" marL="0">
              <a:buNone/>
            </a:pPr>
            <a:r>
              <a:rPr lang="en-US" sz="1200" i="1" dirty="0">
                <a:solidFill>
                  <a:srgbClr val="8899AA"/>
                </a:solidFill>
                <a:latin typeface="Arial" pitchFamily="34" charset="0"/>
                <a:ea typeface="Arial" pitchFamily="34" charset="-122"/>
                <a:cs typeface="Arial" pitchFamily="34" charset="-120"/>
              </a:rPr>
              <a:t>Fully local, open-source agentic clinical AI — discharge comprehension + post-discharge vitals monitoring</a:t>
            </a:r>
            <a:endParaRPr lang="en-US" sz="1200" dirty="0"/>
          </a:p>
        </p:txBody>
      </p:sp>
      <p:sp>
        <p:nvSpPr>
          <p:cNvPr id="4" name="Shape 2"/>
          <p:cNvSpPr/>
          <p:nvPr/>
        </p:nvSpPr>
        <p:spPr>
          <a:xfrm>
            <a:off x="274320" y="1097280"/>
            <a:ext cx="1280160" cy="1280160"/>
          </a:xfrm>
          <a:prstGeom prst="roundRect">
            <a:avLst>
              <a:gd name="adj" fmla="val 8571"/>
            </a:avLst>
          </a:prstGeom>
          <a:solidFill>
            <a:srgbClr val="1F3864"/>
          </a:solidFill>
          <a:ln w="12700">
            <a:solidFill>
              <a:srgbClr val="1F3864"/>
            </a:solidFill>
            <a:prstDash val="solid"/>
          </a:ln>
        </p:spPr>
      </p:sp>
      <p:sp>
        <p:nvSpPr>
          <p:cNvPr id="5" name="Text 3"/>
          <p:cNvSpPr/>
          <p:nvPr/>
        </p:nvSpPr>
        <p:spPr>
          <a:xfrm>
            <a:off x="274320" y="1143000"/>
            <a:ext cx="1280160" cy="45720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6" name="Text 4"/>
          <p:cNvSpPr/>
          <p:nvPr/>
        </p:nvSpPr>
        <p:spPr>
          <a:xfrm>
            <a:off x="274320" y="1600200"/>
            <a:ext cx="1280160" cy="64008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Discharge</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Note Input</a:t>
            </a:r>
            <a:endParaRPr lang="en-US" sz="1000" dirty="0"/>
          </a:p>
        </p:txBody>
      </p:sp>
      <p:sp>
        <p:nvSpPr>
          <p:cNvPr id="7" name="Shape 5"/>
          <p:cNvSpPr/>
          <p:nvPr/>
        </p:nvSpPr>
        <p:spPr>
          <a:xfrm>
            <a:off x="1572768" y="1737360"/>
            <a:ext cx="146304" cy="0"/>
          </a:xfrm>
          <a:prstGeom prst="line">
            <a:avLst/>
          </a:prstGeom>
          <a:noFill/>
          <a:ln w="25400">
            <a:solidFill>
              <a:srgbClr val="00A896"/>
            </a:solidFill>
            <a:prstDash val="solid"/>
          </a:ln>
        </p:spPr>
      </p:sp>
      <p:sp>
        <p:nvSpPr>
          <p:cNvPr id="8" name="Shape 6"/>
          <p:cNvSpPr/>
          <p:nvPr/>
        </p:nvSpPr>
        <p:spPr>
          <a:xfrm>
            <a:off x="1737360" y="1097280"/>
            <a:ext cx="1280160" cy="1280160"/>
          </a:xfrm>
          <a:prstGeom prst="roundRect">
            <a:avLst>
              <a:gd name="adj" fmla="val 8571"/>
            </a:avLst>
          </a:prstGeom>
          <a:solidFill>
            <a:srgbClr val="0D6E6E"/>
          </a:solidFill>
          <a:ln w="12700">
            <a:solidFill>
              <a:srgbClr val="0D6E6E"/>
            </a:solidFill>
            <a:prstDash val="solid"/>
          </a:ln>
        </p:spPr>
      </p:sp>
      <p:sp>
        <p:nvSpPr>
          <p:cNvPr id="9" name="Text 7"/>
          <p:cNvSpPr/>
          <p:nvPr/>
        </p:nvSpPr>
        <p:spPr>
          <a:xfrm>
            <a:off x="1737360" y="1143000"/>
            <a:ext cx="1280160" cy="45720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0" name="Text 8"/>
          <p:cNvSpPr/>
          <p:nvPr/>
        </p:nvSpPr>
        <p:spPr>
          <a:xfrm>
            <a:off x="1737360" y="1600200"/>
            <a:ext cx="1280160" cy="64008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Preprocess</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&amp; Expand</a:t>
            </a:r>
            <a:endParaRPr lang="en-US" sz="1000" dirty="0"/>
          </a:p>
        </p:txBody>
      </p:sp>
      <p:sp>
        <p:nvSpPr>
          <p:cNvPr id="11" name="Shape 9"/>
          <p:cNvSpPr/>
          <p:nvPr/>
        </p:nvSpPr>
        <p:spPr>
          <a:xfrm>
            <a:off x="3035808" y="1737360"/>
            <a:ext cx="146304" cy="0"/>
          </a:xfrm>
          <a:prstGeom prst="line">
            <a:avLst/>
          </a:prstGeom>
          <a:noFill/>
          <a:ln w="25400">
            <a:solidFill>
              <a:srgbClr val="00A896"/>
            </a:solidFill>
            <a:prstDash val="solid"/>
          </a:ln>
        </p:spPr>
      </p:sp>
      <p:sp>
        <p:nvSpPr>
          <p:cNvPr id="12" name="Shape 10"/>
          <p:cNvSpPr/>
          <p:nvPr/>
        </p:nvSpPr>
        <p:spPr>
          <a:xfrm>
            <a:off x="3200400" y="1097280"/>
            <a:ext cx="1280160" cy="1280160"/>
          </a:xfrm>
          <a:prstGeom prst="roundRect">
            <a:avLst>
              <a:gd name="adj" fmla="val 8571"/>
            </a:avLst>
          </a:prstGeom>
          <a:solidFill>
            <a:srgbClr val="028090"/>
          </a:solidFill>
          <a:ln w="12700">
            <a:solidFill>
              <a:srgbClr val="028090"/>
            </a:solidFill>
            <a:prstDash val="solid"/>
          </a:ln>
        </p:spPr>
      </p:sp>
      <p:sp>
        <p:nvSpPr>
          <p:cNvPr id="13" name="Text 11"/>
          <p:cNvSpPr/>
          <p:nvPr/>
        </p:nvSpPr>
        <p:spPr>
          <a:xfrm>
            <a:off x="3200400" y="1143000"/>
            <a:ext cx="1280160" cy="45720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4" name="Text 12"/>
          <p:cNvSpPr/>
          <p:nvPr/>
        </p:nvSpPr>
        <p:spPr>
          <a:xfrm>
            <a:off x="3200400" y="1600200"/>
            <a:ext cx="1280160" cy="64008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Classify</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Intent</a:t>
            </a:r>
            <a:endParaRPr lang="en-US" sz="1000" dirty="0"/>
          </a:p>
        </p:txBody>
      </p:sp>
      <p:sp>
        <p:nvSpPr>
          <p:cNvPr id="15" name="Shape 13"/>
          <p:cNvSpPr/>
          <p:nvPr/>
        </p:nvSpPr>
        <p:spPr>
          <a:xfrm>
            <a:off x="4498848" y="1737360"/>
            <a:ext cx="146304" cy="0"/>
          </a:xfrm>
          <a:prstGeom prst="line">
            <a:avLst/>
          </a:prstGeom>
          <a:noFill/>
          <a:ln w="25400">
            <a:solidFill>
              <a:srgbClr val="00A896"/>
            </a:solidFill>
            <a:prstDash val="solid"/>
          </a:ln>
        </p:spPr>
      </p:sp>
      <p:sp>
        <p:nvSpPr>
          <p:cNvPr id="16" name="Shape 14"/>
          <p:cNvSpPr/>
          <p:nvPr/>
        </p:nvSpPr>
        <p:spPr>
          <a:xfrm>
            <a:off x="4663440" y="1097280"/>
            <a:ext cx="1280160" cy="1280160"/>
          </a:xfrm>
          <a:prstGeom prst="roundRect">
            <a:avLst>
              <a:gd name="adj" fmla="val 8571"/>
            </a:avLst>
          </a:prstGeom>
          <a:solidFill>
            <a:srgbClr val="00A896"/>
          </a:solidFill>
          <a:ln w="12700">
            <a:solidFill>
              <a:srgbClr val="00A896"/>
            </a:solidFill>
            <a:prstDash val="solid"/>
          </a:ln>
        </p:spPr>
      </p:sp>
      <p:sp>
        <p:nvSpPr>
          <p:cNvPr id="17" name="Text 15"/>
          <p:cNvSpPr/>
          <p:nvPr/>
        </p:nvSpPr>
        <p:spPr>
          <a:xfrm>
            <a:off x="4663440" y="1143000"/>
            <a:ext cx="1280160" cy="45720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8" name="Text 16"/>
          <p:cNvSpPr/>
          <p:nvPr/>
        </p:nvSpPr>
        <p:spPr>
          <a:xfrm>
            <a:off x="4663440" y="1600200"/>
            <a:ext cx="1280160" cy="64008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Agentic</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Router</a:t>
            </a:r>
            <a:endParaRPr lang="en-US" sz="1000" dirty="0"/>
          </a:p>
        </p:txBody>
      </p:sp>
      <p:sp>
        <p:nvSpPr>
          <p:cNvPr id="19" name="Shape 17"/>
          <p:cNvSpPr/>
          <p:nvPr/>
        </p:nvSpPr>
        <p:spPr>
          <a:xfrm>
            <a:off x="5961888" y="1737360"/>
            <a:ext cx="146304" cy="0"/>
          </a:xfrm>
          <a:prstGeom prst="line">
            <a:avLst/>
          </a:prstGeom>
          <a:noFill/>
          <a:ln w="25400">
            <a:solidFill>
              <a:srgbClr val="00A896"/>
            </a:solidFill>
            <a:prstDash val="solid"/>
          </a:ln>
        </p:spPr>
      </p:sp>
      <p:sp>
        <p:nvSpPr>
          <p:cNvPr id="20" name="Shape 18"/>
          <p:cNvSpPr/>
          <p:nvPr/>
        </p:nvSpPr>
        <p:spPr>
          <a:xfrm>
            <a:off x="6126480" y="1097280"/>
            <a:ext cx="1280160" cy="1280160"/>
          </a:xfrm>
          <a:prstGeom prst="roundRect">
            <a:avLst>
              <a:gd name="adj" fmla="val 8571"/>
            </a:avLst>
          </a:prstGeom>
          <a:solidFill>
            <a:srgbClr val="02C39A"/>
          </a:solidFill>
          <a:ln w="12700">
            <a:solidFill>
              <a:srgbClr val="02C39A"/>
            </a:solidFill>
            <a:prstDash val="solid"/>
          </a:ln>
        </p:spPr>
      </p:sp>
      <p:sp>
        <p:nvSpPr>
          <p:cNvPr id="21" name="Text 19"/>
          <p:cNvSpPr/>
          <p:nvPr/>
        </p:nvSpPr>
        <p:spPr>
          <a:xfrm>
            <a:off x="6126480" y="1143000"/>
            <a:ext cx="1280160" cy="45720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2" name="Text 20"/>
          <p:cNvSpPr/>
          <p:nvPr/>
        </p:nvSpPr>
        <p:spPr>
          <a:xfrm>
            <a:off x="6126480" y="1600200"/>
            <a:ext cx="1280160" cy="64008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Hybrid</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Retrieval</a:t>
            </a:r>
            <a:endParaRPr lang="en-US" sz="1000" dirty="0"/>
          </a:p>
        </p:txBody>
      </p:sp>
      <p:sp>
        <p:nvSpPr>
          <p:cNvPr id="23" name="Shape 21"/>
          <p:cNvSpPr/>
          <p:nvPr/>
        </p:nvSpPr>
        <p:spPr>
          <a:xfrm>
            <a:off x="7424928" y="1737360"/>
            <a:ext cx="146304" cy="0"/>
          </a:xfrm>
          <a:prstGeom prst="line">
            <a:avLst/>
          </a:prstGeom>
          <a:noFill/>
          <a:ln w="25400">
            <a:solidFill>
              <a:srgbClr val="00A896"/>
            </a:solidFill>
            <a:prstDash val="solid"/>
          </a:ln>
        </p:spPr>
      </p:sp>
      <p:sp>
        <p:nvSpPr>
          <p:cNvPr id="24" name="Shape 22"/>
          <p:cNvSpPr/>
          <p:nvPr/>
        </p:nvSpPr>
        <p:spPr>
          <a:xfrm>
            <a:off x="7589520" y="1097280"/>
            <a:ext cx="1280160" cy="1280160"/>
          </a:xfrm>
          <a:prstGeom prst="roundRect">
            <a:avLst>
              <a:gd name="adj" fmla="val 8571"/>
            </a:avLst>
          </a:prstGeom>
          <a:solidFill>
            <a:srgbClr val="04D4AA"/>
          </a:solidFill>
          <a:ln w="12700">
            <a:solidFill>
              <a:srgbClr val="04D4AA"/>
            </a:solidFill>
            <a:prstDash val="solid"/>
          </a:ln>
        </p:spPr>
      </p:sp>
      <p:sp>
        <p:nvSpPr>
          <p:cNvPr id="25" name="Text 23"/>
          <p:cNvSpPr/>
          <p:nvPr/>
        </p:nvSpPr>
        <p:spPr>
          <a:xfrm>
            <a:off x="7589520" y="1143000"/>
            <a:ext cx="1280160" cy="457200"/>
          </a:xfrm>
          <a:prstGeom prst="rect">
            <a:avLst/>
          </a:prstGeom>
          <a:noFill/>
          <a:ln/>
        </p:spPr>
        <p:txBody>
          <a:bodyPr wrap="square" rtlCol="0" anchor="ctr"/>
          <a:lstStyle/>
          <a:p>
            <a:pPr algn="ctr" indent="0" marL="0">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6" name="Text 24"/>
          <p:cNvSpPr/>
          <p:nvPr/>
        </p:nvSpPr>
        <p:spPr>
          <a:xfrm>
            <a:off x="7589520" y="1600200"/>
            <a:ext cx="1280160" cy="64008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Plain-English</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Response</a:t>
            </a:r>
            <a:endParaRPr lang="en-US" sz="1000" dirty="0"/>
          </a:p>
        </p:txBody>
      </p:sp>
      <p:sp>
        <p:nvSpPr>
          <p:cNvPr id="27" name="Text 25"/>
          <p:cNvSpPr/>
          <p:nvPr/>
        </p:nvSpPr>
        <p:spPr>
          <a:xfrm>
            <a:off x="457200" y="2514600"/>
            <a:ext cx="8229600" cy="274320"/>
          </a:xfrm>
          <a:prstGeom prst="rect">
            <a:avLst/>
          </a:prstGeom>
          <a:noFill/>
          <a:ln/>
        </p:spPr>
        <p:txBody>
          <a:bodyPr wrap="square" rtlCol="0" anchor="ctr"/>
          <a:lstStyle/>
          <a:p>
            <a:pPr algn="ctr" indent="0" marL="0">
              <a:buNone/>
            </a:pPr>
            <a:r>
              <a:rPr lang="en-US" sz="1100" dirty="0">
                <a:solidFill>
                  <a:srgbClr val="8899AA"/>
                </a:solidFill>
                <a:latin typeface="Arial" pitchFamily="34" charset="0"/>
                <a:ea typeface="Arial" pitchFamily="34" charset="-122"/>
                <a:cs typeface="Arial" pitchFamily="34" charset="-120"/>
              </a:rPr>
              <a:t>Knowledge Base: 49,423 chunks — FDA Drug Labels · NIH MedlinePlus · PubMed · PLABA</a:t>
            </a:r>
            <a:endParaRPr lang="en-US" sz="1100" dirty="0"/>
          </a:p>
        </p:txBody>
      </p:sp>
      <p:sp>
        <p:nvSpPr>
          <p:cNvPr id="28" name="Text 26"/>
          <p:cNvSpPr/>
          <p:nvPr/>
        </p:nvSpPr>
        <p:spPr>
          <a:xfrm>
            <a:off x="365760" y="2880360"/>
            <a:ext cx="8229600" cy="292608"/>
          </a:xfrm>
          <a:prstGeom prst="rect">
            <a:avLst/>
          </a:prstGeom>
          <a:noFill/>
          <a:ln/>
        </p:spPr>
        <p:txBody>
          <a:bodyPr wrap="square" rtlCol="0" anchor="ctr"/>
          <a:lstStyle/>
          <a:p>
            <a:pPr indent="0" marL="0">
              <a:buNone/>
            </a:pPr>
            <a:r>
              <a:rPr lang="en-US" sz="1300" b="1" dirty="0">
                <a:solidFill>
                  <a:srgbClr val="0D1B2A"/>
                </a:solidFill>
                <a:latin typeface="Arial" pitchFamily="34" charset="0"/>
                <a:ea typeface="Arial" pitchFamily="34" charset="-122"/>
                <a:cs typeface="Arial" pitchFamily="34" charset="-120"/>
              </a:rPr>
              <a:t>Four Agentic Features:</a:t>
            </a:r>
            <a:endParaRPr lang="en-US" sz="1300" dirty="0"/>
          </a:p>
        </p:txBody>
      </p:sp>
      <p:sp>
        <p:nvSpPr>
          <p:cNvPr id="29" name="Shape 27"/>
          <p:cNvSpPr/>
          <p:nvPr/>
        </p:nvSpPr>
        <p:spPr>
          <a:xfrm>
            <a:off x="274320" y="3246120"/>
            <a:ext cx="2011680" cy="1554480"/>
          </a:xfrm>
          <a:prstGeom prst="roundRect">
            <a:avLst>
              <a:gd name="adj" fmla="val 5882"/>
            </a:avLst>
          </a:prstGeom>
          <a:solidFill>
            <a:srgbClr val="E8F4FD"/>
          </a:solidFill>
          <a:ln w="12700">
            <a:solidFill>
              <a:srgbClr val="CCDDEE"/>
            </a:solidFill>
            <a:prstDash val="solid"/>
          </a:ln>
          <a:effectLst>
            <a:outerShdw sx="100000" sy="100000" kx="0" ky="0" algn="bl" rotWithShape="0" blurRad="63500" dist="25400" dir="2700000">
              <a:srgbClr val="000000">
                <a:alpha val="13000"/>
              </a:srgbClr>
            </a:outerShdw>
          </a:effectLst>
        </p:spPr>
      </p:sp>
      <p:sp>
        <p:nvSpPr>
          <p:cNvPr id="30" name="Text 28"/>
          <p:cNvSpPr/>
          <p:nvPr/>
        </p:nvSpPr>
        <p:spPr>
          <a:xfrm>
            <a:off x="347472" y="3310128"/>
            <a:ext cx="1883664" cy="347472"/>
          </a:xfrm>
          <a:prstGeom prst="rect">
            <a:avLst/>
          </a:prstGeom>
          <a:noFill/>
          <a:ln/>
        </p:spPr>
        <p:txBody>
          <a:bodyPr wrap="square" rtlCol="0" anchor="ctr"/>
          <a:lstStyle/>
          <a:p>
            <a:pPr indent="0" marL="0">
              <a:buNone/>
            </a:pPr>
            <a:r>
              <a:rPr lang="en-US" sz="1000" b="1" dirty="0">
                <a:solidFill>
                  <a:srgbClr val="0D1B2A"/>
                </a:solidFill>
                <a:latin typeface="Courier New" pitchFamily="34" charset="0"/>
                <a:ea typeface="Courier New" pitchFamily="34" charset="-122"/>
                <a:cs typeface="Courier New" pitchFamily="34" charset="-120"/>
              </a:rPr>
              <a:t>classify_intent()</a:t>
            </a:r>
            <a:endParaRPr lang="en-US" sz="1000" dirty="0"/>
          </a:p>
        </p:txBody>
      </p:sp>
      <p:sp>
        <p:nvSpPr>
          <p:cNvPr id="31" name="Text 29"/>
          <p:cNvSpPr/>
          <p:nvPr/>
        </p:nvSpPr>
        <p:spPr>
          <a:xfrm>
            <a:off x="347472" y="3694176"/>
            <a:ext cx="1883664" cy="914400"/>
          </a:xfrm>
          <a:prstGeom prst="rect">
            <a:avLst/>
          </a:prstGeom>
          <a:noFill/>
          <a:ln/>
        </p:spPr>
        <p:txBody>
          <a:bodyPr wrap="square" rtlCol="0" anchor="ctr"/>
          <a:lstStyle/>
          <a:p>
            <a:pPr indent="0" marL="0">
              <a:buNone/>
            </a:pPr>
            <a:r>
              <a:rPr lang="en-US" sz="1000" dirty="0">
                <a:solidFill>
                  <a:srgbClr val="2D3A4A"/>
                </a:solidFill>
                <a:latin typeface="Arial" pitchFamily="34" charset="0"/>
                <a:ea typeface="Arial" pitchFamily="34" charset="-122"/>
                <a:cs typeface="Arial" pitchFamily="34" charset="-120"/>
              </a:rPr>
              <a:t>Classifies query as medication / follow_up / warning_sign / diagnosis / general</a:t>
            </a:r>
            <a:endParaRPr lang="en-US" sz="1000" dirty="0"/>
          </a:p>
        </p:txBody>
      </p:sp>
      <p:sp>
        <p:nvSpPr>
          <p:cNvPr id="32" name="Shape 30"/>
          <p:cNvSpPr/>
          <p:nvPr/>
        </p:nvSpPr>
        <p:spPr>
          <a:xfrm>
            <a:off x="2450592" y="3246120"/>
            <a:ext cx="2011680" cy="1554480"/>
          </a:xfrm>
          <a:prstGeom prst="roundRect">
            <a:avLst>
              <a:gd name="adj" fmla="val 5882"/>
            </a:avLst>
          </a:prstGeom>
          <a:solidFill>
            <a:srgbClr val="E8FDF6"/>
          </a:solidFill>
          <a:ln w="12700">
            <a:solidFill>
              <a:srgbClr val="CCDDEE"/>
            </a:solidFill>
            <a:prstDash val="solid"/>
          </a:ln>
          <a:effectLst>
            <a:outerShdw sx="100000" sy="100000" kx="0" ky="0" algn="bl" rotWithShape="0" blurRad="63500" dist="25400" dir="2700000">
              <a:srgbClr val="000000">
                <a:alpha val="13000"/>
              </a:srgbClr>
            </a:outerShdw>
          </a:effectLst>
        </p:spPr>
      </p:sp>
      <p:sp>
        <p:nvSpPr>
          <p:cNvPr id="33" name="Text 31"/>
          <p:cNvSpPr/>
          <p:nvPr/>
        </p:nvSpPr>
        <p:spPr>
          <a:xfrm>
            <a:off x="2523744" y="3310128"/>
            <a:ext cx="1883664" cy="347472"/>
          </a:xfrm>
          <a:prstGeom prst="rect">
            <a:avLst/>
          </a:prstGeom>
          <a:noFill/>
          <a:ln/>
        </p:spPr>
        <p:txBody>
          <a:bodyPr wrap="square" rtlCol="0" anchor="ctr"/>
          <a:lstStyle/>
          <a:p>
            <a:pPr indent="0" marL="0">
              <a:buNone/>
            </a:pPr>
            <a:r>
              <a:rPr lang="en-US" sz="1000" b="1" dirty="0">
                <a:solidFill>
                  <a:srgbClr val="0D1B2A"/>
                </a:solidFill>
                <a:latin typeface="Courier New" pitchFamily="34" charset="0"/>
                <a:ea typeface="Courier New" pitchFamily="34" charset="-122"/>
                <a:cs typeface="Courier New" pitchFamily="34" charset="-120"/>
              </a:rPr>
              <a:t>route_query()</a:t>
            </a:r>
            <a:endParaRPr lang="en-US" sz="1000" dirty="0"/>
          </a:p>
        </p:txBody>
      </p:sp>
      <p:sp>
        <p:nvSpPr>
          <p:cNvPr id="34" name="Text 32"/>
          <p:cNvSpPr/>
          <p:nvPr/>
        </p:nvSpPr>
        <p:spPr>
          <a:xfrm>
            <a:off x="2523744" y="3694176"/>
            <a:ext cx="1883664" cy="914400"/>
          </a:xfrm>
          <a:prstGeom prst="rect">
            <a:avLst/>
          </a:prstGeom>
          <a:noFill/>
          <a:ln/>
        </p:spPr>
        <p:txBody>
          <a:bodyPr wrap="square" rtlCol="0" anchor="ctr"/>
          <a:lstStyle/>
          <a:p>
            <a:pPr indent="0" marL="0">
              <a:buNone/>
            </a:pPr>
            <a:r>
              <a:rPr lang="en-US" sz="1000" dirty="0">
                <a:solidFill>
                  <a:srgbClr val="2D3A4A"/>
                </a:solidFill>
                <a:latin typeface="Arial" pitchFamily="34" charset="0"/>
                <a:ea typeface="Arial" pitchFamily="34" charset="-122"/>
                <a:cs typeface="Arial" pitchFamily="34" charset="-120"/>
              </a:rPr>
              <a:t>Agentic router selects minimal retrieval sections based on classification</a:t>
            </a:r>
            <a:endParaRPr lang="en-US" sz="1000" dirty="0"/>
          </a:p>
        </p:txBody>
      </p:sp>
      <p:sp>
        <p:nvSpPr>
          <p:cNvPr id="35" name="Shape 33"/>
          <p:cNvSpPr/>
          <p:nvPr/>
        </p:nvSpPr>
        <p:spPr>
          <a:xfrm>
            <a:off x="4626864" y="3246120"/>
            <a:ext cx="2011680" cy="1554480"/>
          </a:xfrm>
          <a:prstGeom prst="roundRect">
            <a:avLst>
              <a:gd name="adj" fmla="val 5882"/>
            </a:avLst>
          </a:prstGeom>
          <a:solidFill>
            <a:srgbClr val="FDF4E8"/>
          </a:solidFill>
          <a:ln w="12700">
            <a:solidFill>
              <a:srgbClr val="CCDDEE"/>
            </a:solidFill>
            <a:prstDash val="solid"/>
          </a:ln>
          <a:effectLst>
            <a:outerShdw sx="100000" sy="100000" kx="0" ky="0" algn="bl" rotWithShape="0" blurRad="63500" dist="25400" dir="2700000">
              <a:srgbClr val="000000">
                <a:alpha val="13000"/>
              </a:srgbClr>
            </a:outerShdw>
          </a:effectLst>
        </p:spPr>
      </p:sp>
      <p:sp>
        <p:nvSpPr>
          <p:cNvPr id="36" name="Text 34"/>
          <p:cNvSpPr/>
          <p:nvPr/>
        </p:nvSpPr>
        <p:spPr>
          <a:xfrm>
            <a:off x="4700016" y="3310128"/>
            <a:ext cx="1883664" cy="347472"/>
          </a:xfrm>
          <a:prstGeom prst="rect">
            <a:avLst/>
          </a:prstGeom>
          <a:noFill/>
          <a:ln/>
        </p:spPr>
        <p:txBody>
          <a:bodyPr wrap="square" rtlCol="0" anchor="ctr"/>
          <a:lstStyle/>
          <a:p>
            <a:pPr indent="0" marL="0">
              <a:buNone/>
            </a:pPr>
            <a:r>
              <a:rPr lang="en-US" sz="1000" b="1" dirty="0">
                <a:solidFill>
                  <a:srgbClr val="0D1B2A"/>
                </a:solidFill>
                <a:latin typeface="Courier New" pitchFamily="34" charset="0"/>
                <a:ea typeface="Courier New" pitchFamily="34" charset="-122"/>
                <a:cs typeface="Courier New" pitchFamily="34" charset="-120"/>
              </a:rPr>
              <a:t>score_readmission_risk()</a:t>
            </a:r>
            <a:endParaRPr lang="en-US" sz="1000" dirty="0"/>
          </a:p>
        </p:txBody>
      </p:sp>
      <p:sp>
        <p:nvSpPr>
          <p:cNvPr id="37" name="Text 35"/>
          <p:cNvSpPr/>
          <p:nvPr/>
        </p:nvSpPr>
        <p:spPr>
          <a:xfrm>
            <a:off x="4700016" y="3694176"/>
            <a:ext cx="1883664" cy="914400"/>
          </a:xfrm>
          <a:prstGeom prst="rect">
            <a:avLst/>
          </a:prstGeom>
          <a:noFill/>
          <a:ln/>
        </p:spPr>
        <p:txBody>
          <a:bodyPr wrap="square" rtlCol="0" anchor="ctr"/>
          <a:lstStyle/>
          <a:p>
            <a:pPr indent="0" marL="0">
              <a:buNone/>
            </a:pPr>
            <a:r>
              <a:rPr lang="en-US" sz="1000" dirty="0">
                <a:solidFill>
                  <a:srgbClr val="2D3A4A"/>
                </a:solidFill>
                <a:latin typeface="Arial" pitchFamily="34" charset="0"/>
                <a:ea typeface="Arial" pitchFamily="34" charset="-122"/>
                <a:cs typeface="Arial" pitchFamily="34" charset="-120"/>
              </a:rPr>
              <a:t>Predicts 30-day readmission risk (LOW/MEDIUM/HIGH) from discharge signals</a:t>
            </a:r>
            <a:endParaRPr lang="en-US" sz="1000" dirty="0"/>
          </a:p>
        </p:txBody>
      </p:sp>
      <p:sp>
        <p:nvSpPr>
          <p:cNvPr id="38" name="Shape 36"/>
          <p:cNvSpPr/>
          <p:nvPr/>
        </p:nvSpPr>
        <p:spPr>
          <a:xfrm>
            <a:off x="6803136" y="3246120"/>
            <a:ext cx="2011680" cy="1554480"/>
          </a:xfrm>
          <a:prstGeom prst="roundRect">
            <a:avLst>
              <a:gd name="adj" fmla="val 5882"/>
            </a:avLst>
          </a:prstGeom>
          <a:solidFill>
            <a:srgbClr val="F0E8FD"/>
          </a:solidFill>
          <a:ln w="12700">
            <a:solidFill>
              <a:srgbClr val="CCDDEE"/>
            </a:solidFill>
            <a:prstDash val="solid"/>
          </a:ln>
          <a:effectLst>
            <a:outerShdw sx="100000" sy="100000" kx="0" ky="0" algn="bl" rotWithShape="0" blurRad="63500" dist="25400" dir="2700000">
              <a:srgbClr val="000000">
                <a:alpha val="13000"/>
              </a:srgbClr>
            </a:outerShdw>
          </a:effectLst>
        </p:spPr>
      </p:sp>
      <p:sp>
        <p:nvSpPr>
          <p:cNvPr id="39" name="Text 37"/>
          <p:cNvSpPr/>
          <p:nvPr/>
        </p:nvSpPr>
        <p:spPr>
          <a:xfrm>
            <a:off x="6876288" y="3310128"/>
            <a:ext cx="1883664" cy="347472"/>
          </a:xfrm>
          <a:prstGeom prst="rect">
            <a:avLst/>
          </a:prstGeom>
          <a:noFill/>
          <a:ln/>
        </p:spPr>
        <p:txBody>
          <a:bodyPr wrap="square" rtlCol="0" anchor="ctr"/>
          <a:lstStyle/>
          <a:p>
            <a:pPr indent="0" marL="0">
              <a:buNone/>
            </a:pPr>
            <a:r>
              <a:rPr lang="en-US" sz="1000" b="1" dirty="0">
                <a:solidFill>
                  <a:srgbClr val="0D1B2A"/>
                </a:solidFill>
                <a:latin typeface="Courier New" pitchFamily="34" charset="0"/>
                <a:ea typeface="Courier New" pitchFamily="34" charset="-122"/>
                <a:cs typeface="Courier New" pitchFamily="34" charset="-120"/>
              </a:rPr>
              <a:t>detect_vitals_anomaly()</a:t>
            </a:r>
            <a:endParaRPr lang="en-US" sz="1000" dirty="0"/>
          </a:p>
        </p:txBody>
      </p:sp>
      <p:sp>
        <p:nvSpPr>
          <p:cNvPr id="40" name="Text 38"/>
          <p:cNvSpPr/>
          <p:nvPr/>
        </p:nvSpPr>
        <p:spPr>
          <a:xfrm>
            <a:off x="6876288" y="3694176"/>
            <a:ext cx="1883664" cy="914400"/>
          </a:xfrm>
          <a:prstGeom prst="rect">
            <a:avLst/>
          </a:prstGeom>
          <a:noFill/>
          <a:ln/>
        </p:spPr>
        <p:txBody>
          <a:bodyPr wrap="square" rtlCol="0" anchor="ctr"/>
          <a:lstStyle/>
          <a:p>
            <a:pPr indent="0" marL="0">
              <a:buNone/>
            </a:pPr>
            <a:r>
              <a:rPr lang="en-US" sz="1000" dirty="0">
                <a:solidFill>
                  <a:srgbClr val="2D3A4A"/>
                </a:solidFill>
                <a:latin typeface="Arial" pitchFamily="34" charset="0"/>
                <a:ea typeface="Arial" pitchFamily="34" charset="-122"/>
                <a:cs typeface="Arial" pitchFamily="34" charset="-120"/>
              </a:rPr>
              <a:t>Z-score time-series anomaly detection on 7-day post-discharge vitals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Module 1 — Discharge Note Explainer</a:t>
            </a:r>
            <a:endParaRPr lang="en-US" sz="2600" dirty="0"/>
          </a:p>
        </p:txBody>
      </p:sp>
      <p:sp>
        <p:nvSpPr>
          <p:cNvPr id="3" name="Text 1"/>
          <p:cNvSpPr/>
          <p:nvPr/>
        </p:nvSpPr>
        <p:spPr>
          <a:xfrm>
            <a:off x="457200" y="667512"/>
            <a:ext cx="8229600" cy="292608"/>
          </a:xfrm>
          <a:prstGeom prst="rect">
            <a:avLst/>
          </a:prstGeom>
          <a:noFill/>
          <a:ln/>
        </p:spPr>
        <p:txBody>
          <a:bodyPr wrap="square" rtlCol="0" anchor="ctr"/>
          <a:lstStyle/>
          <a:p>
            <a:pPr indent="0" marL="0">
              <a:buNone/>
            </a:pPr>
            <a:r>
              <a:rPr lang="en-US" sz="1200" i="1" dirty="0">
                <a:solidFill>
                  <a:srgbClr val="00A896"/>
                </a:solidFill>
                <a:latin typeface="Arial" pitchFamily="34" charset="0"/>
                <a:ea typeface="Arial" pitchFamily="34" charset="-122"/>
                <a:cs typeface="Arial" pitchFamily="34" charset="-120"/>
              </a:rPr>
              <a:t>Input: discharge note with HFrEF, HTN, type 2 diabetes, Furosemide, Lisinopril, Metformin</a:t>
            </a:r>
            <a:endParaRPr lang="en-US" sz="1200" dirty="0"/>
          </a:p>
        </p:txBody>
      </p:sp>
      <p:sp>
        <p:nvSpPr>
          <p:cNvPr id="4" name="Shape 2"/>
          <p:cNvSpPr/>
          <p:nvPr/>
        </p:nvSpPr>
        <p:spPr>
          <a:xfrm>
            <a:off x="365760" y="1097280"/>
            <a:ext cx="3931920" cy="1188720"/>
          </a:xfrm>
          <a:prstGeom prst="roundRect">
            <a:avLst>
              <a:gd name="adj" fmla="val 7692"/>
            </a:avLst>
          </a:prstGeom>
          <a:solidFill>
            <a:srgbClr val="152232"/>
          </a:solidFill>
          <a:ln w="12700">
            <a:solidFill>
              <a:srgbClr val="1E3A4A"/>
            </a:solidFill>
            <a:prstDash val="solid"/>
          </a:ln>
        </p:spPr>
      </p:sp>
      <p:sp>
        <p:nvSpPr>
          <p:cNvPr id="5" name="Text 3"/>
          <p:cNvSpPr/>
          <p:nvPr/>
        </p:nvSpPr>
        <p:spPr>
          <a:xfrm>
            <a:off x="502920" y="1170432"/>
            <a:ext cx="3657600" cy="292608"/>
          </a:xfrm>
          <a:prstGeom prst="rect">
            <a:avLst/>
          </a:prstGeom>
          <a:noFill/>
          <a:ln/>
        </p:spPr>
        <p:txBody>
          <a:bodyPr wrap="square" rtlCol="0" anchor="ctr"/>
          <a:lstStyle/>
          <a:p>
            <a:pPr indent="0" marL="0">
              <a:buNone/>
            </a:pPr>
            <a:r>
              <a:rPr lang="en-US" sz="1200" b="1" dirty="0">
                <a:solidFill>
                  <a:srgbClr val="00A896"/>
                </a:solidFill>
                <a:latin typeface="Arial" pitchFamily="34" charset="0"/>
                <a:ea typeface="Arial" pitchFamily="34" charset="-122"/>
                <a:cs typeface="Arial" pitchFamily="34" charset="-120"/>
              </a:rPr>
              <a:t>🔍 Diagnosis Explained</a:t>
            </a:r>
            <a:endParaRPr lang="en-US" sz="1200" dirty="0"/>
          </a:p>
        </p:txBody>
      </p:sp>
      <p:sp>
        <p:nvSpPr>
          <p:cNvPr id="6" name="Text 4"/>
          <p:cNvSpPr/>
          <p:nvPr/>
        </p:nvSpPr>
        <p:spPr>
          <a:xfrm>
            <a:off x="502920" y="1499616"/>
            <a:ext cx="3657600" cy="658368"/>
          </a:xfrm>
          <a:prstGeom prst="rect">
            <a:avLst/>
          </a:prstGeom>
          <a:noFill/>
          <a:ln/>
        </p:spPr>
        <p:txBody>
          <a:bodyPr wrap="square" rtlCol="0" anchor="ctr"/>
          <a:lstStyle/>
          <a:p>
            <a:pPr indent="0" marL="0">
              <a:buNone/>
            </a:pPr>
            <a:r>
              <a:rPr lang="en-US" sz="1100" dirty="0">
                <a:solidFill>
                  <a:srgbClr val="8899AA"/>
                </a:solidFill>
                <a:latin typeface="Arial" pitchFamily="34" charset="0"/>
                <a:ea typeface="Arial" pitchFamily="34" charset="-122"/>
                <a:cs typeface="Arial" pitchFamily="34" charset="-120"/>
              </a:rPr>
              <a:t>Plain-English explanation of HFrEF, hypertension, and type 2 diabetes — written at 6th grade reading level.</a:t>
            </a:r>
            <a:endParaRPr lang="en-US" sz="1100" dirty="0"/>
          </a:p>
        </p:txBody>
      </p:sp>
      <p:sp>
        <p:nvSpPr>
          <p:cNvPr id="7" name="Shape 5"/>
          <p:cNvSpPr/>
          <p:nvPr/>
        </p:nvSpPr>
        <p:spPr>
          <a:xfrm>
            <a:off x="365760" y="2468880"/>
            <a:ext cx="3931920" cy="1188720"/>
          </a:xfrm>
          <a:prstGeom prst="roundRect">
            <a:avLst>
              <a:gd name="adj" fmla="val 7692"/>
            </a:avLst>
          </a:prstGeom>
          <a:solidFill>
            <a:srgbClr val="152232"/>
          </a:solidFill>
          <a:ln w="12700">
            <a:solidFill>
              <a:srgbClr val="1E3A4A"/>
            </a:solidFill>
            <a:prstDash val="solid"/>
          </a:ln>
        </p:spPr>
      </p:sp>
      <p:sp>
        <p:nvSpPr>
          <p:cNvPr id="8" name="Text 6"/>
          <p:cNvSpPr/>
          <p:nvPr/>
        </p:nvSpPr>
        <p:spPr>
          <a:xfrm>
            <a:off x="502920" y="2542032"/>
            <a:ext cx="3657600" cy="292608"/>
          </a:xfrm>
          <a:prstGeom prst="rect">
            <a:avLst/>
          </a:prstGeom>
          <a:noFill/>
          <a:ln/>
        </p:spPr>
        <p:txBody>
          <a:bodyPr wrap="square" rtlCol="0" anchor="ctr"/>
          <a:lstStyle/>
          <a:p>
            <a:pPr indent="0" marL="0">
              <a:buNone/>
            </a:pPr>
            <a:r>
              <a:rPr lang="en-US" sz="1200" b="1" dirty="0">
                <a:solidFill>
                  <a:srgbClr val="00A896"/>
                </a:solidFill>
                <a:latin typeface="Arial" pitchFamily="34" charset="0"/>
                <a:ea typeface="Arial" pitchFamily="34" charset="-122"/>
                <a:cs typeface="Arial" pitchFamily="34" charset="-120"/>
              </a:rPr>
              <a:t>💊 Your Medications</a:t>
            </a:r>
            <a:endParaRPr lang="en-US" sz="1200" dirty="0"/>
          </a:p>
        </p:txBody>
      </p:sp>
      <p:sp>
        <p:nvSpPr>
          <p:cNvPr id="9" name="Text 7"/>
          <p:cNvSpPr/>
          <p:nvPr/>
        </p:nvSpPr>
        <p:spPr>
          <a:xfrm>
            <a:off x="502920" y="2871216"/>
            <a:ext cx="3657600" cy="658368"/>
          </a:xfrm>
          <a:prstGeom prst="rect">
            <a:avLst/>
          </a:prstGeom>
          <a:noFill/>
          <a:ln/>
        </p:spPr>
        <p:txBody>
          <a:bodyPr wrap="square" rtlCol="0" anchor="ctr"/>
          <a:lstStyle/>
          <a:p>
            <a:pPr indent="0" marL="0">
              <a:buNone/>
            </a:pPr>
            <a:r>
              <a:rPr lang="en-US" sz="1100" dirty="0">
                <a:solidFill>
                  <a:srgbClr val="8899AA"/>
                </a:solidFill>
                <a:latin typeface="Arial" pitchFamily="34" charset="0"/>
                <a:ea typeface="Arial" pitchFamily="34" charset="-122"/>
                <a:cs typeface="Arial" pitchFamily="34" charset="-120"/>
              </a:rPr>
              <a:t>Furosemide 40mg twice daily, Lisinopril 10mg daily, Metformin 500mg twice daily — what each does and how to take it.</a:t>
            </a:r>
            <a:endParaRPr lang="en-US" sz="1100" dirty="0"/>
          </a:p>
        </p:txBody>
      </p:sp>
      <p:sp>
        <p:nvSpPr>
          <p:cNvPr id="10" name="Shape 8"/>
          <p:cNvSpPr/>
          <p:nvPr/>
        </p:nvSpPr>
        <p:spPr>
          <a:xfrm>
            <a:off x="4663440" y="1097280"/>
            <a:ext cx="4114800" cy="1188720"/>
          </a:xfrm>
          <a:prstGeom prst="roundRect">
            <a:avLst>
              <a:gd name="adj" fmla="val 7692"/>
            </a:avLst>
          </a:prstGeom>
          <a:solidFill>
            <a:srgbClr val="152232"/>
          </a:solidFill>
          <a:ln w="12700">
            <a:solidFill>
              <a:srgbClr val="1E3A4A"/>
            </a:solidFill>
            <a:prstDash val="solid"/>
          </a:ln>
        </p:spPr>
      </p:sp>
      <p:sp>
        <p:nvSpPr>
          <p:cNvPr id="11" name="Text 9"/>
          <p:cNvSpPr/>
          <p:nvPr/>
        </p:nvSpPr>
        <p:spPr>
          <a:xfrm>
            <a:off x="4800600" y="1170432"/>
            <a:ext cx="3749040" cy="292608"/>
          </a:xfrm>
          <a:prstGeom prst="rect">
            <a:avLst/>
          </a:prstGeom>
          <a:noFill/>
          <a:ln/>
        </p:spPr>
        <p:txBody>
          <a:bodyPr wrap="square" rtlCol="0" anchor="ctr"/>
          <a:lstStyle/>
          <a:p>
            <a:pPr indent="0" marL="0">
              <a:buNone/>
            </a:pPr>
            <a:r>
              <a:rPr lang="en-US" sz="1200" b="1" dirty="0">
                <a:solidFill>
                  <a:srgbClr val="00A896"/>
                </a:solidFill>
                <a:latin typeface="Arial" pitchFamily="34" charset="0"/>
                <a:ea typeface="Arial" pitchFamily="34" charset="-122"/>
                <a:cs typeface="Arial" pitchFamily="34" charset="-120"/>
              </a:rPr>
              <a:t>📅 Follow-up Actions</a:t>
            </a:r>
            <a:endParaRPr lang="en-US" sz="1200" dirty="0"/>
          </a:p>
        </p:txBody>
      </p:sp>
      <p:sp>
        <p:nvSpPr>
          <p:cNvPr id="12" name="Text 10"/>
          <p:cNvSpPr/>
          <p:nvPr/>
        </p:nvSpPr>
        <p:spPr>
          <a:xfrm>
            <a:off x="4800600" y="1499616"/>
            <a:ext cx="3749040" cy="658368"/>
          </a:xfrm>
          <a:prstGeom prst="rect">
            <a:avLst/>
          </a:prstGeom>
          <a:noFill/>
          <a:ln/>
        </p:spPr>
        <p:txBody>
          <a:bodyPr wrap="square" rtlCol="0" anchor="ctr"/>
          <a:lstStyle/>
          <a:p>
            <a:pPr indent="0" marL="0">
              <a:buNone/>
            </a:pPr>
            <a:r>
              <a:rPr lang="en-US" sz="1100" dirty="0">
                <a:solidFill>
                  <a:srgbClr val="8899AA"/>
                </a:solidFill>
                <a:latin typeface="Arial" pitchFamily="34" charset="0"/>
                <a:ea typeface="Arial" pitchFamily="34" charset="-122"/>
                <a:cs typeface="Arial" pitchFamily="34" charset="-120"/>
              </a:rPr>
              <a:t>See your primary care doctor in 1 week, cardiology in 2 weeks. Check daily weight and blood pressure.</a:t>
            </a:r>
            <a:endParaRPr lang="en-US" sz="1100" dirty="0"/>
          </a:p>
        </p:txBody>
      </p:sp>
      <p:sp>
        <p:nvSpPr>
          <p:cNvPr id="13" name="Shape 11"/>
          <p:cNvSpPr/>
          <p:nvPr/>
        </p:nvSpPr>
        <p:spPr>
          <a:xfrm>
            <a:off x="4663440" y="2468880"/>
            <a:ext cx="4114800" cy="1188720"/>
          </a:xfrm>
          <a:prstGeom prst="roundRect">
            <a:avLst>
              <a:gd name="adj" fmla="val 7692"/>
            </a:avLst>
          </a:prstGeom>
          <a:solidFill>
            <a:srgbClr val="152232"/>
          </a:solidFill>
          <a:ln w="12700">
            <a:solidFill>
              <a:srgbClr val="1E3A4A"/>
            </a:solidFill>
            <a:prstDash val="solid"/>
          </a:ln>
        </p:spPr>
      </p:sp>
      <p:sp>
        <p:nvSpPr>
          <p:cNvPr id="14" name="Text 12"/>
          <p:cNvSpPr/>
          <p:nvPr/>
        </p:nvSpPr>
        <p:spPr>
          <a:xfrm>
            <a:off x="4800600" y="2542032"/>
            <a:ext cx="3749040" cy="292608"/>
          </a:xfrm>
          <a:prstGeom prst="rect">
            <a:avLst/>
          </a:prstGeom>
          <a:noFill/>
          <a:ln/>
        </p:spPr>
        <p:txBody>
          <a:bodyPr wrap="square" rtlCol="0" anchor="ctr"/>
          <a:lstStyle/>
          <a:p>
            <a:pPr indent="0" marL="0">
              <a:buNone/>
            </a:pPr>
            <a:r>
              <a:rPr lang="en-US" sz="1200" b="1" dirty="0">
                <a:solidFill>
                  <a:srgbClr val="00A896"/>
                </a:solidFill>
                <a:latin typeface="Arial" pitchFamily="34" charset="0"/>
                <a:ea typeface="Arial" pitchFamily="34" charset="-122"/>
                <a:cs typeface="Arial" pitchFamily="34" charset="-120"/>
              </a:rPr>
              <a:t>⚠️ Warning Signs</a:t>
            </a:r>
            <a:endParaRPr lang="en-US" sz="1200" dirty="0"/>
          </a:p>
        </p:txBody>
      </p:sp>
      <p:sp>
        <p:nvSpPr>
          <p:cNvPr id="15" name="Text 13"/>
          <p:cNvSpPr/>
          <p:nvPr/>
        </p:nvSpPr>
        <p:spPr>
          <a:xfrm>
            <a:off x="4800600" y="2871216"/>
            <a:ext cx="3749040" cy="658368"/>
          </a:xfrm>
          <a:prstGeom prst="rect">
            <a:avLst/>
          </a:prstGeom>
          <a:noFill/>
          <a:ln/>
        </p:spPr>
        <p:txBody>
          <a:bodyPr wrap="square" rtlCol="0" anchor="ctr"/>
          <a:lstStyle/>
          <a:p>
            <a:pPr indent="0" marL="0">
              <a:buNone/>
            </a:pPr>
            <a:r>
              <a:rPr lang="en-US" sz="1100" dirty="0">
                <a:solidFill>
                  <a:srgbClr val="8899AA"/>
                </a:solidFill>
                <a:latin typeface="Arial" pitchFamily="34" charset="0"/>
                <a:ea typeface="Arial" pitchFamily="34" charset="-122"/>
                <a:cs typeface="Arial" pitchFamily="34" charset="-120"/>
              </a:rPr>
              <a:t>Return to ER for chest pain, severe shortness of breath, fainting, confusion, or rapid weight gain.</a:t>
            </a:r>
            <a:endParaRPr lang="en-US" sz="1100" dirty="0"/>
          </a:p>
        </p:txBody>
      </p:sp>
      <p:sp>
        <p:nvSpPr>
          <p:cNvPr id="16" name="Shape 14"/>
          <p:cNvSpPr/>
          <p:nvPr/>
        </p:nvSpPr>
        <p:spPr>
          <a:xfrm>
            <a:off x="365760" y="3931920"/>
            <a:ext cx="3931920" cy="868680"/>
          </a:xfrm>
          <a:prstGeom prst="roundRect">
            <a:avLst>
              <a:gd name="adj" fmla="val 10526"/>
            </a:avLst>
          </a:prstGeom>
          <a:solidFill>
            <a:srgbClr val="0D3A35"/>
          </a:solidFill>
          <a:ln w="12700">
            <a:solidFill>
              <a:srgbClr val="00A896"/>
            </a:solidFill>
            <a:prstDash val="solid"/>
          </a:ln>
        </p:spPr>
      </p:sp>
      <p:sp>
        <p:nvSpPr>
          <p:cNvPr id="17" name="Text 15"/>
          <p:cNvSpPr/>
          <p:nvPr/>
        </p:nvSpPr>
        <p:spPr>
          <a:xfrm>
            <a:off x="502920" y="3986784"/>
            <a:ext cx="3657600" cy="713232"/>
          </a:xfrm>
          <a:prstGeom prst="rect">
            <a:avLst/>
          </a:prstGeom>
          <a:noFill/>
          <a:ln/>
        </p:spPr>
        <p:txBody>
          <a:bodyPr wrap="square" rtlCol="0" anchor="ctr"/>
          <a:lstStyle/>
          <a:p>
            <a:pPr indent="0" marL="0">
              <a:buNone/>
            </a:pPr>
            <a:r>
              <a:rPr lang="en-US" sz="1100" dirty="0">
                <a:solidFill>
                  <a:srgbClr val="02C39A"/>
                </a:solidFill>
                <a:latin typeface="Arial" pitchFamily="34" charset="0"/>
                <a:ea typeface="Arial" pitchFamily="34" charset="-122"/>
                <a:cs typeface="Arial" pitchFamily="34" charset="-120"/>
              </a:rPr>
              <a:t>🤖 Agentic Router: Detected 'warning_sign' intent → retrieving all 4 sections autonomously</a:t>
            </a:r>
            <a:endParaRPr lang="en-US" sz="1100" dirty="0"/>
          </a:p>
        </p:txBody>
      </p:sp>
      <p:sp>
        <p:nvSpPr>
          <p:cNvPr id="18" name="Shape 16"/>
          <p:cNvSpPr/>
          <p:nvPr/>
        </p:nvSpPr>
        <p:spPr>
          <a:xfrm>
            <a:off x="4663440" y="3931920"/>
            <a:ext cx="4114800" cy="868680"/>
          </a:xfrm>
          <a:prstGeom prst="roundRect">
            <a:avLst>
              <a:gd name="adj" fmla="val 10526"/>
            </a:avLst>
          </a:prstGeom>
          <a:solidFill>
            <a:srgbClr val="3A2400"/>
          </a:solidFill>
          <a:ln w="12700">
            <a:solidFill>
              <a:srgbClr val="FF8C00"/>
            </a:solidFill>
            <a:prstDash val="solid"/>
          </a:ln>
        </p:spPr>
      </p:sp>
      <p:sp>
        <p:nvSpPr>
          <p:cNvPr id="19" name="Text 17"/>
          <p:cNvSpPr/>
          <p:nvPr/>
        </p:nvSpPr>
        <p:spPr>
          <a:xfrm>
            <a:off x="4800600" y="3986784"/>
            <a:ext cx="3749040" cy="713232"/>
          </a:xfrm>
          <a:prstGeom prst="rect">
            <a:avLst/>
          </a:prstGeom>
          <a:noFill/>
          <a:ln/>
        </p:spPr>
        <p:txBody>
          <a:bodyPr wrap="square" rtlCol="0" anchor="ctr"/>
          <a:lstStyle/>
          <a:p>
            <a:pPr indent="0" marL="0">
              <a:buNone/>
            </a:pPr>
            <a:r>
              <a:rPr lang="en-US" sz="1100" dirty="0">
                <a:solidFill>
                  <a:srgbClr val="FFAA44"/>
                </a:solidFill>
                <a:latin typeface="Arial" pitchFamily="34" charset="0"/>
                <a:ea typeface="Arial" pitchFamily="34" charset="-122"/>
                <a:cs typeface="Arial" pitchFamily="34" charset="-120"/>
              </a:rPr>
              <a:t>⚕️ 30-Day Risk: HIGH — HFrEF detected. Prioritise follow-up within 7 days. Consider care coordination.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indent="0" marL="0">
              <a:buNone/>
            </a:pPr>
            <a:r>
              <a:rPr lang="en-US" sz="2600" b="1" dirty="0">
                <a:solidFill>
                  <a:srgbClr val="0D1B2A"/>
                </a:solidFill>
                <a:latin typeface="Arial" pitchFamily="34" charset="0"/>
                <a:ea typeface="Arial" pitchFamily="34" charset="-122"/>
                <a:cs typeface="Arial" pitchFamily="34" charset="-120"/>
              </a:rPr>
              <a:t>Module 2 — VitalPath: Time-Series Anomaly Detection</a:t>
            </a:r>
            <a:endParaRPr lang="en-US" sz="2600" dirty="0"/>
          </a:p>
        </p:txBody>
      </p:sp>
      <p:sp>
        <p:nvSpPr>
          <p:cNvPr id="3" name="Text 1"/>
          <p:cNvSpPr/>
          <p:nvPr/>
        </p:nvSpPr>
        <p:spPr>
          <a:xfrm>
            <a:off x="457200" y="667512"/>
            <a:ext cx="8229600" cy="292608"/>
          </a:xfrm>
          <a:prstGeom prst="rect">
            <a:avLst/>
          </a:prstGeom>
          <a:noFill/>
          <a:ln/>
        </p:spPr>
        <p:txBody>
          <a:bodyPr wrap="square" rtlCol="0" anchor="ctr"/>
          <a:lstStyle/>
          <a:p>
            <a:pPr indent="0" marL="0">
              <a:buNone/>
            </a:pPr>
            <a:r>
              <a:rPr lang="en-US" sz="1200" i="1" dirty="0">
                <a:solidFill>
                  <a:srgbClr val="8899AA"/>
                </a:solidFill>
                <a:latin typeface="Arial" pitchFamily="34" charset="0"/>
                <a:ea typeface="Arial" pitchFamily="34" charset="-122"/>
                <a:cs typeface="Arial" pitchFamily="34" charset="-120"/>
              </a:rPr>
              <a:t>Post-discharge monitoring — 7-day vital sign trend analysis with pattern recognition and clinical decision support</a:t>
            </a:r>
            <a:endParaRPr lang="en-US" sz="1200" dirty="0"/>
          </a:p>
        </p:txBody>
      </p:sp>
      <p:sp>
        <p:nvSpPr>
          <p:cNvPr id="4" name="Shape 2"/>
          <p:cNvSpPr/>
          <p:nvPr/>
        </p:nvSpPr>
        <p:spPr>
          <a:xfrm>
            <a:off x="365760" y="1097280"/>
            <a:ext cx="1965960" cy="2011680"/>
          </a:xfrm>
          <a:prstGeom prst="roundRect">
            <a:avLst>
              <a:gd name="adj" fmla="val 5581"/>
            </a:avLst>
          </a:prstGeom>
          <a:solidFill>
            <a:srgbClr val="FFFFFF"/>
          </a:solidFill>
          <a:ln w="12700">
            <a:solidFill>
              <a:srgbClr val="E0E8F0"/>
            </a:solidFill>
            <a:prstDash val="solid"/>
          </a:ln>
          <a:effectLst>
            <a:outerShdw sx="100000" sy="100000" kx="0" ky="0" algn="bl" rotWithShape="0" blurRad="63500" dist="25400" dir="2700000">
              <a:srgbClr val="000000">
                <a:alpha val="13000"/>
              </a:srgbClr>
            </a:outerShdw>
          </a:effectLst>
        </p:spPr>
      </p:sp>
      <p:sp>
        <p:nvSpPr>
          <p:cNvPr id="5" name="Text 3"/>
          <p:cNvSpPr/>
          <p:nvPr/>
        </p:nvSpPr>
        <p:spPr>
          <a:xfrm>
            <a:off x="365760" y="1170432"/>
            <a:ext cx="1965960" cy="457200"/>
          </a:xfrm>
          <a:prstGeom prst="rect">
            <a:avLst/>
          </a:prstGeom>
          <a:noFill/>
          <a:ln/>
        </p:spPr>
        <p:txBody>
          <a:bodyPr wrap="square" rtlCol="0" anchor="ctr"/>
          <a:lstStyle/>
          <a:p>
            <a:pPr algn="ctr" indent="0" marL="0">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6" name="Text 4"/>
          <p:cNvSpPr/>
          <p:nvPr/>
        </p:nvSpPr>
        <p:spPr>
          <a:xfrm>
            <a:off x="457200" y="1664208"/>
            <a:ext cx="1783080" cy="320040"/>
          </a:xfrm>
          <a:prstGeom prst="rect">
            <a:avLst/>
          </a:prstGeom>
          <a:noFill/>
          <a:ln/>
        </p:spPr>
        <p:txBody>
          <a:bodyPr wrap="square" rtlCol="0" anchor="ctr"/>
          <a:lstStyle/>
          <a:p>
            <a:pPr algn="ctr" indent="0" marL="0">
              <a:buNone/>
            </a:pPr>
            <a:r>
              <a:rPr lang="en-US" sz="1300" b="1" dirty="0">
                <a:solidFill>
                  <a:srgbClr val="0D1B2A"/>
                </a:solidFill>
                <a:latin typeface="Arial" pitchFamily="34" charset="0"/>
                <a:ea typeface="Arial" pitchFamily="34" charset="-122"/>
                <a:cs typeface="Arial" pitchFamily="34" charset="-120"/>
              </a:rPr>
              <a:t>Input</a:t>
            </a:r>
            <a:endParaRPr lang="en-US" sz="1300" dirty="0"/>
          </a:p>
        </p:txBody>
      </p:sp>
      <p:sp>
        <p:nvSpPr>
          <p:cNvPr id="7" name="Text 5"/>
          <p:cNvSpPr/>
          <p:nvPr/>
        </p:nvSpPr>
        <p:spPr>
          <a:xfrm>
            <a:off x="457200" y="2011680"/>
            <a:ext cx="1783080" cy="1005840"/>
          </a:xfrm>
          <a:prstGeom prst="rect">
            <a:avLst/>
          </a:prstGeom>
          <a:noFill/>
          <a:ln/>
        </p:spPr>
        <p:txBody>
          <a:bodyPr wrap="square" rtlCol="0" anchor="ctr"/>
          <a:lstStyle/>
          <a:p>
            <a:pPr algn="ctr" indent="0" marL="0">
              <a:buNone/>
            </a:pPr>
            <a:r>
              <a:rPr lang="en-US" sz="1100" dirty="0">
                <a:solidFill>
                  <a:srgbClr val="2D3A4A"/>
                </a:solidFill>
                <a:latin typeface="Arial" pitchFamily="34" charset="0"/>
                <a:ea typeface="Arial" pitchFamily="34" charset="-122"/>
                <a:cs typeface="Arial" pitchFamily="34" charset="-120"/>
              </a:rPr>
              <a:t>7 days of daily weight (kg) and systolic BP (mmHg) readings entered by patient or care team</a:t>
            </a:r>
            <a:endParaRPr lang="en-US" sz="1100" dirty="0"/>
          </a:p>
        </p:txBody>
      </p:sp>
      <p:sp>
        <p:nvSpPr>
          <p:cNvPr id="8" name="Shape 6"/>
          <p:cNvSpPr/>
          <p:nvPr/>
        </p:nvSpPr>
        <p:spPr>
          <a:xfrm>
            <a:off x="2542032" y="1097280"/>
            <a:ext cx="1965960" cy="2011680"/>
          </a:xfrm>
          <a:prstGeom prst="roundRect">
            <a:avLst>
              <a:gd name="adj" fmla="val 5581"/>
            </a:avLst>
          </a:prstGeom>
          <a:solidFill>
            <a:srgbClr val="FFFFFF"/>
          </a:solidFill>
          <a:ln w="12700">
            <a:solidFill>
              <a:srgbClr val="E0E8F0"/>
            </a:solidFill>
            <a:prstDash val="solid"/>
          </a:ln>
          <a:effectLst>
            <a:outerShdw sx="100000" sy="100000" kx="0" ky="0" algn="bl" rotWithShape="0" blurRad="63500" dist="25400" dir="2700000">
              <a:srgbClr val="000000">
                <a:alpha val="13000"/>
              </a:srgbClr>
            </a:outerShdw>
          </a:effectLst>
        </p:spPr>
      </p:sp>
      <p:sp>
        <p:nvSpPr>
          <p:cNvPr id="9" name="Text 7"/>
          <p:cNvSpPr/>
          <p:nvPr/>
        </p:nvSpPr>
        <p:spPr>
          <a:xfrm>
            <a:off x="2542032" y="1170432"/>
            <a:ext cx="1965960" cy="457200"/>
          </a:xfrm>
          <a:prstGeom prst="rect">
            <a:avLst/>
          </a:prstGeom>
          <a:noFill/>
          <a:ln/>
        </p:spPr>
        <p:txBody>
          <a:bodyPr wrap="square" rtlCol="0" anchor="ctr"/>
          <a:lstStyle/>
          <a:p>
            <a:pPr algn="ctr" indent="0" marL="0">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10" name="Text 8"/>
          <p:cNvSpPr/>
          <p:nvPr/>
        </p:nvSpPr>
        <p:spPr>
          <a:xfrm>
            <a:off x="2633472" y="1664208"/>
            <a:ext cx="1783080" cy="320040"/>
          </a:xfrm>
          <a:prstGeom prst="rect">
            <a:avLst/>
          </a:prstGeom>
          <a:noFill/>
          <a:ln/>
        </p:spPr>
        <p:txBody>
          <a:bodyPr wrap="square" rtlCol="0" anchor="ctr"/>
          <a:lstStyle/>
          <a:p>
            <a:pPr algn="ctr" indent="0" marL="0">
              <a:buNone/>
            </a:pPr>
            <a:r>
              <a:rPr lang="en-US" sz="1300" b="1" dirty="0">
                <a:solidFill>
                  <a:srgbClr val="0D1B2A"/>
                </a:solidFill>
                <a:latin typeface="Arial" pitchFamily="34" charset="0"/>
                <a:ea typeface="Arial" pitchFamily="34" charset="-122"/>
                <a:cs typeface="Arial" pitchFamily="34" charset="-120"/>
              </a:rPr>
              <a:t>Z-Score Analysis</a:t>
            </a:r>
            <a:endParaRPr lang="en-US" sz="1300" dirty="0"/>
          </a:p>
        </p:txBody>
      </p:sp>
      <p:sp>
        <p:nvSpPr>
          <p:cNvPr id="11" name="Text 9"/>
          <p:cNvSpPr/>
          <p:nvPr/>
        </p:nvSpPr>
        <p:spPr>
          <a:xfrm>
            <a:off x="2633472" y="2011680"/>
            <a:ext cx="1783080" cy="1005840"/>
          </a:xfrm>
          <a:prstGeom prst="rect">
            <a:avLst/>
          </a:prstGeom>
          <a:noFill/>
          <a:ln/>
        </p:spPr>
        <p:txBody>
          <a:bodyPr wrap="square" rtlCol="0" anchor="ctr"/>
          <a:lstStyle/>
          <a:p>
            <a:pPr algn="ctr" indent="0" marL="0">
              <a:buNone/>
            </a:pPr>
            <a:r>
              <a:rPr lang="en-US" sz="1100" dirty="0">
                <a:solidFill>
                  <a:srgbClr val="2D3A4A"/>
                </a:solidFill>
                <a:latin typeface="Arial" pitchFamily="34" charset="0"/>
                <a:ea typeface="Arial" pitchFamily="34" charset="-122"/>
                <a:cs typeface="Arial" pitchFamily="34" charset="-120"/>
              </a:rPr>
              <a:t>Statistical z-score detects readings that deviate significantly from the patient's own baseline</a:t>
            </a:r>
            <a:endParaRPr lang="en-US" sz="1100" dirty="0"/>
          </a:p>
        </p:txBody>
      </p:sp>
      <p:sp>
        <p:nvSpPr>
          <p:cNvPr id="12" name="Shape 10"/>
          <p:cNvSpPr/>
          <p:nvPr/>
        </p:nvSpPr>
        <p:spPr>
          <a:xfrm>
            <a:off x="4718304" y="1097280"/>
            <a:ext cx="1965960" cy="2011680"/>
          </a:xfrm>
          <a:prstGeom prst="roundRect">
            <a:avLst>
              <a:gd name="adj" fmla="val 5581"/>
            </a:avLst>
          </a:prstGeom>
          <a:solidFill>
            <a:srgbClr val="FFFFFF"/>
          </a:solidFill>
          <a:ln w="12700">
            <a:solidFill>
              <a:srgbClr val="E0E8F0"/>
            </a:solidFill>
            <a:prstDash val="solid"/>
          </a:ln>
          <a:effectLst>
            <a:outerShdw sx="100000" sy="100000" kx="0" ky="0" algn="bl" rotWithShape="0" blurRad="63500" dist="25400" dir="2700000">
              <a:srgbClr val="000000">
                <a:alpha val="13000"/>
              </a:srgbClr>
            </a:outerShdw>
          </a:effectLst>
        </p:spPr>
      </p:sp>
      <p:sp>
        <p:nvSpPr>
          <p:cNvPr id="13" name="Text 11"/>
          <p:cNvSpPr/>
          <p:nvPr/>
        </p:nvSpPr>
        <p:spPr>
          <a:xfrm>
            <a:off x="4718304" y="1170432"/>
            <a:ext cx="1965960" cy="457200"/>
          </a:xfrm>
          <a:prstGeom prst="rect">
            <a:avLst/>
          </a:prstGeom>
          <a:noFill/>
          <a:ln/>
        </p:spPr>
        <p:txBody>
          <a:bodyPr wrap="square" rtlCol="0" anchor="ctr"/>
          <a:lstStyle/>
          <a:p>
            <a:pPr algn="ctr" indent="0" marL="0">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14" name="Text 12"/>
          <p:cNvSpPr/>
          <p:nvPr/>
        </p:nvSpPr>
        <p:spPr>
          <a:xfrm>
            <a:off x="4809744" y="1664208"/>
            <a:ext cx="1783080" cy="320040"/>
          </a:xfrm>
          <a:prstGeom prst="rect">
            <a:avLst/>
          </a:prstGeom>
          <a:noFill/>
          <a:ln/>
        </p:spPr>
        <p:txBody>
          <a:bodyPr wrap="square" rtlCol="0" anchor="ctr"/>
          <a:lstStyle/>
          <a:p>
            <a:pPr algn="ctr" indent="0" marL="0">
              <a:buNone/>
            </a:pPr>
            <a:r>
              <a:rPr lang="en-US" sz="1300" b="1" dirty="0">
                <a:solidFill>
                  <a:srgbClr val="0D1B2A"/>
                </a:solidFill>
                <a:latin typeface="Arial" pitchFamily="34" charset="0"/>
                <a:ea typeface="Arial" pitchFamily="34" charset="-122"/>
                <a:cs typeface="Arial" pitchFamily="34" charset="-120"/>
              </a:rPr>
              <a:t>Pattern Recognition</a:t>
            </a:r>
            <a:endParaRPr lang="en-US" sz="1300" dirty="0"/>
          </a:p>
        </p:txBody>
      </p:sp>
      <p:sp>
        <p:nvSpPr>
          <p:cNvPr id="15" name="Text 13"/>
          <p:cNvSpPr/>
          <p:nvPr/>
        </p:nvSpPr>
        <p:spPr>
          <a:xfrm>
            <a:off x="4809744" y="2011680"/>
            <a:ext cx="1783080" cy="1005840"/>
          </a:xfrm>
          <a:prstGeom prst="rect">
            <a:avLst/>
          </a:prstGeom>
          <a:noFill/>
          <a:ln/>
        </p:spPr>
        <p:txBody>
          <a:bodyPr wrap="square" rtlCol="0" anchor="ctr"/>
          <a:lstStyle/>
          <a:p>
            <a:pPr algn="ctr" indent="0" marL="0">
              <a:buNone/>
            </a:pPr>
            <a:r>
              <a:rPr lang="en-US" sz="1100" dirty="0">
                <a:solidFill>
                  <a:srgbClr val="2D3A4A"/>
                </a:solidFill>
                <a:latin typeface="Arial" pitchFamily="34" charset="0"/>
                <a:ea typeface="Arial" pitchFamily="34" charset="-122"/>
                <a:cs typeface="Arial" pitchFamily="34" charset="-120"/>
              </a:rPr>
              <a:t>Classifies trend as STABLE, WARNING, or CRITICAL based on clinical threshold rules</a:t>
            </a:r>
            <a:endParaRPr lang="en-US" sz="1100" dirty="0"/>
          </a:p>
        </p:txBody>
      </p:sp>
      <p:sp>
        <p:nvSpPr>
          <p:cNvPr id="16" name="Shape 14"/>
          <p:cNvSpPr/>
          <p:nvPr/>
        </p:nvSpPr>
        <p:spPr>
          <a:xfrm>
            <a:off x="6894576" y="1097280"/>
            <a:ext cx="1965960" cy="2011680"/>
          </a:xfrm>
          <a:prstGeom prst="roundRect">
            <a:avLst>
              <a:gd name="adj" fmla="val 5581"/>
            </a:avLst>
          </a:prstGeom>
          <a:solidFill>
            <a:srgbClr val="FFFFFF"/>
          </a:solidFill>
          <a:ln w="12700">
            <a:solidFill>
              <a:srgbClr val="E0E8F0"/>
            </a:solidFill>
            <a:prstDash val="solid"/>
          </a:ln>
          <a:effectLst>
            <a:outerShdw sx="100000" sy="100000" kx="0" ky="0" algn="bl" rotWithShape="0" blurRad="63500" dist="25400" dir="2700000">
              <a:srgbClr val="000000">
                <a:alpha val="13000"/>
              </a:srgbClr>
            </a:outerShdw>
          </a:effectLst>
        </p:spPr>
      </p:sp>
      <p:sp>
        <p:nvSpPr>
          <p:cNvPr id="17" name="Text 15"/>
          <p:cNvSpPr/>
          <p:nvPr/>
        </p:nvSpPr>
        <p:spPr>
          <a:xfrm>
            <a:off x="6894576" y="1170432"/>
            <a:ext cx="1965960" cy="457200"/>
          </a:xfrm>
          <a:prstGeom prst="rect">
            <a:avLst/>
          </a:prstGeom>
          <a:noFill/>
          <a:ln/>
        </p:spPr>
        <p:txBody>
          <a:bodyPr wrap="square" rtlCol="0" anchor="ctr"/>
          <a:lstStyle/>
          <a:p>
            <a:pPr algn="ctr" indent="0" marL="0">
              <a:buNone/>
            </a:pPr>
            <a:r>
              <a:rPr lang="en-US" sz="2400" dirty="0">
                <a:solidFill>
                  <a:srgbClr val="000000"/>
                </a:solidFill>
                <a:latin typeface="Arial" pitchFamily="34" charset="0"/>
                <a:ea typeface="Arial" pitchFamily="34" charset="-122"/>
                <a:cs typeface="Arial" pitchFamily="34" charset="-120"/>
              </a:rPr>
              <a:t>💊</a:t>
            </a:r>
            <a:endParaRPr lang="en-US" sz="2400" dirty="0"/>
          </a:p>
        </p:txBody>
      </p:sp>
      <p:sp>
        <p:nvSpPr>
          <p:cNvPr id="18" name="Text 16"/>
          <p:cNvSpPr/>
          <p:nvPr/>
        </p:nvSpPr>
        <p:spPr>
          <a:xfrm>
            <a:off x="6986016" y="1664208"/>
            <a:ext cx="1783080" cy="320040"/>
          </a:xfrm>
          <a:prstGeom prst="rect">
            <a:avLst/>
          </a:prstGeom>
          <a:noFill/>
          <a:ln/>
        </p:spPr>
        <p:txBody>
          <a:bodyPr wrap="square" rtlCol="0" anchor="ctr"/>
          <a:lstStyle/>
          <a:p>
            <a:pPr algn="ctr" indent="0" marL="0">
              <a:buNone/>
            </a:pPr>
            <a:r>
              <a:rPr lang="en-US" sz="1300" b="1" dirty="0">
                <a:solidFill>
                  <a:srgbClr val="0D1B2A"/>
                </a:solidFill>
                <a:latin typeface="Arial" pitchFamily="34" charset="0"/>
                <a:ea typeface="Arial" pitchFamily="34" charset="-122"/>
                <a:cs typeface="Arial" pitchFamily="34" charset="-120"/>
              </a:rPr>
              <a:t>Decision Support</a:t>
            </a:r>
            <a:endParaRPr lang="en-US" sz="1300" dirty="0"/>
          </a:p>
        </p:txBody>
      </p:sp>
      <p:sp>
        <p:nvSpPr>
          <p:cNvPr id="19" name="Text 17"/>
          <p:cNvSpPr/>
          <p:nvPr/>
        </p:nvSpPr>
        <p:spPr>
          <a:xfrm>
            <a:off x="6986016" y="2011680"/>
            <a:ext cx="1783080" cy="1005840"/>
          </a:xfrm>
          <a:prstGeom prst="rect">
            <a:avLst/>
          </a:prstGeom>
          <a:noFill/>
          <a:ln/>
        </p:spPr>
        <p:txBody>
          <a:bodyPr wrap="square" rtlCol="0" anchor="ctr"/>
          <a:lstStyle/>
          <a:p>
            <a:pPr algn="ctr" indent="0" marL="0">
              <a:buNone/>
            </a:pPr>
            <a:r>
              <a:rPr lang="en-US" sz="1100" dirty="0">
                <a:solidFill>
                  <a:srgbClr val="2D3A4A"/>
                </a:solidFill>
                <a:latin typeface="Arial" pitchFamily="34" charset="0"/>
                <a:ea typeface="Arial" pitchFamily="34" charset="-122"/>
                <a:cs typeface="Arial" pitchFamily="34" charset="-120"/>
              </a:rPr>
              <a:t>Generates specific care recommendation — from 'continue monitoring' to 'go to ER today'</a:t>
            </a:r>
            <a:endParaRPr lang="en-US" sz="1100" dirty="0"/>
          </a:p>
        </p:txBody>
      </p:sp>
      <p:sp>
        <p:nvSpPr>
          <p:cNvPr id="20" name="Text 18"/>
          <p:cNvSpPr/>
          <p:nvPr/>
        </p:nvSpPr>
        <p:spPr>
          <a:xfrm>
            <a:off x="457200" y="3291840"/>
            <a:ext cx="8229600" cy="292608"/>
          </a:xfrm>
          <a:prstGeom prst="rect">
            <a:avLst/>
          </a:prstGeom>
          <a:noFill/>
          <a:ln/>
        </p:spPr>
        <p:txBody>
          <a:bodyPr wrap="square" rtlCol="0" anchor="ctr"/>
          <a:lstStyle/>
          <a:p>
            <a:pPr indent="0" marL="0">
              <a:buNone/>
            </a:pPr>
            <a:r>
              <a:rPr lang="en-US" sz="1300" b="1" dirty="0">
                <a:solidFill>
                  <a:srgbClr val="0D1B2A"/>
                </a:solidFill>
                <a:latin typeface="Arial" pitchFamily="34" charset="0"/>
                <a:ea typeface="Arial" pitchFamily="34" charset="-122"/>
                <a:cs typeface="Arial" pitchFamily="34" charset="-120"/>
              </a:rPr>
              <a:t>Sample Output — Critical Pattern Detected:</a:t>
            </a:r>
            <a:endParaRPr lang="en-US" sz="1300" dirty="0"/>
          </a:p>
        </p:txBody>
      </p:sp>
      <p:sp>
        <p:nvSpPr>
          <p:cNvPr id="21" name="Shape 19"/>
          <p:cNvSpPr/>
          <p:nvPr/>
        </p:nvSpPr>
        <p:spPr>
          <a:xfrm>
            <a:off x="365760" y="3657600"/>
            <a:ext cx="4023360" cy="548640"/>
          </a:xfrm>
          <a:prstGeom prst="roundRect">
            <a:avLst>
              <a:gd name="adj" fmla="val 13333"/>
            </a:avLst>
          </a:prstGeom>
          <a:solidFill>
            <a:srgbClr val="2A0A0A"/>
          </a:solidFill>
          <a:ln w="12700">
            <a:solidFill>
              <a:srgbClr val="000000"/>
            </a:solidFill>
            <a:prstDash val="solid"/>
          </a:ln>
        </p:spPr>
      </p:sp>
      <p:sp>
        <p:nvSpPr>
          <p:cNvPr id="22" name="Text 20"/>
          <p:cNvSpPr/>
          <p:nvPr/>
        </p:nvSpPr>
        <p:spPr>
          <a:xfrm>
            <a:off x="457200" y="3703320"/>
            <a:ext cx="3840480" cy="457200"/>
          </a:xfrm>
          <a:prstGeom prst="rect">
            <a:avLst/>
          </a:prstGeom>
          <a:noFill/>
          <a:ln/>
        </p:spPr>
        <p:txBody>
          <a:bodyPr wrap="square" rtlCol="0" anchor="ctr"/>
          <a:lstStyle/>
          <a:p>
            <a:pPr indent="0" marL="0">
              <a:buNone/>
            </a:pPr>
            <a:r>
              <a:rPr lang="en-US" sz="1100" dirty="0">
                <a:solidFill>
                  <a:srgbClr val="F8A0A0"/>
                </a:solidFill>
                <a:latin typeface="Arial" pitchFamily="34" charset="0"/>
                <a:ea typeface="Arial" pitchFamily="34" charset="-122"/>
                <a:cs typeface="Arial" pitchFamily="34" charset="-120"/>
              </a:rPr>
              <a:t>🚨  Single-day weight gain of 2.5 kg (Day 3→4) — threshold exceeded</a:t>
            </a:r>
            <a:endParaRPr lang="en-US" sz="1100" dirty="0"/>
          </a:p>
        </p:txBody>
      </p:sp>
      <p:sp>
        <p:nvSpPr>
          <p:cNvPr id="23" name="Shape 21"/>
          <p:cNvSpPr/>
          <p:nvPr/>
        </p:nvSpPr>
        <p:spPr>
          <a:xfrm>
            <a:off x="365760" y="4315968"/>
            <a:ext cx="4023360" cy="548640"/>
          </a:xfrm>
          <a:prstGeom prst="roundRect">
            <a:avLst>
              <a:gd name="adj" fmla="val 13333"/>
            </a:avLst>
          </a:prstGeom>
          <a:solidFill>
            <a:srgbClr val="2A1E00"/>
          </a:solidFill>
          <a:ln w="12700">
            <a:solidFill>
              <a:srgbClr val="000000"/>
            </a:solidFill>
            <a:prstDash val="solid"/>
          </a:ln>
        </p:spPr>
      </p:sp>
      <p:sp>
        <p:nvSpPr>
          <p:cNvPr id="24" name="Text 22"/>
          <p:cNvSpPr/>
          <p:nvPr/>
        </p:nvSpPr>
        <p:spPr>
          <a:xfrm>
            <a:off x="457200" y="4361688"/>
            <a:ext cx="3840480" cy="457200"/>
          </a:xfrm>
          <a:prstGeom prst="rect">
            <a:avLst/>
          </a:prstGeom>
          <a:noFill/>
          <a:ln/>
        </p:spPr>
        <p:txBody>
          <a:bodyPr wrap="square" rtlCol="0" anchor="ctr"/>
          <a:lstStyle/>
          <a:p>
            <a:pPr indent="0" marL="0">
              <a:buNone/>
            </a:pPr>
            <a:r>
              <a:rPr lang="en-US" sz="1100" dirty="0">
                <a:solidFill>
                  <a:srgbClr val="FFAA44"/>
                </a:solidFill>
                <a:latin typeface="Arial" pitchFamily="34" charset="0"/>
                <a:ea typeface="Arial" pitchFamily="34" charset="-122"/>
                <a:cs typeface="Arial" pitchFamily="34" charset="-120"/>
              </a:rPr>
              <a:t>⚠️  Total weight gain of 6.0 kg over 7 days — fluid retention pattern</a:t>
            </a:r>
            <a:endParaRPr lang="en-US" sz="1100" dirty="0"/>
          </a:p>
        </p:txBody>
      </p:sp>
      <p:sp>
        <p:nvSpPr>
          <p:cNvPr id="25" name="Shape 23"/>
          <p:cNvSpPr/>
          <p:nvPr/>
        </p:nvSpPr>
        <p:spPr>
          <a:xfrm>
            <a:off x="4617720" y="3657600"/>
            <a:ext cx="4023360" cy="548640"/>
          </a:xfrm>
          <a:prstGeom prst="roundRect">
            <a:avLst>
              <a:gd name="adj" fmla="val 13333"/>
            </a:avLst>
          </a:prstGeom>
          <a:solidFill>
            <a:srgbClr val="2A1E00"/>
          </a:solidFill>
          <a:ln w="12700">
            <a:solidFill>
              <a:srgbClr val="000000"/>
            </a:solidFill>
            <a:prstDash val="solid"/>
          </a:ln>
        </p:spPr>
      </p:sp>
      <p:sp>
        <p:nvSpPr>
          <p:cNvPr id="26" name="Text 24"/>
          <p:cNvSpPr/>
          <p:nvPr/>
        </p:nvSpPr>
        <p:spPr>
          <a:xfrm>
            <a:off x="4709160" y="3703320"/>
            <a:ext cx="3840480" cy="457200"/>
          </a:xfrm>
          <a:prstGeom prst="rect">
            <a:avLst/>
          </a:prstGeom>
          <a:noFill/>
          <a:ln/>
        </p:spPr>
        <p:txBody>
          <a:bodyPr wrap="square" rtlCol="0" anchor="ctr"/>
          <a:lstStyle/>
          <a:p>
            <a:pPr indent="0" marL="0">
              <a:buNone/>
            </a:pPr>
            <a:r>
              <a:rPr lang="en-US" sz="1100" dirty="0">
                <a:solidFill>
                  <a:srgbClr val="FFAA44"/>
                </a:solidFill>
                <a:latin typeface="Arial" pitchFamily="34" charset="0"/>
                <a:ea typeface="Arial" pitchFamily="34" charset="-122"/>
                <a:cs typeface="Arial" pitchFamily="34" charset="-120"/>
              </a:rPr>
              <a:t>⚠️  Rising BP trend: +37 mmHg over 7 days — hypertensive progression</a:t>
            </a:r>
            <a:endParaRPr lang="en-US" sz="1100" dirty="0"/>
          </a:p>
        </p:txBody>
      </p:sp>
      <p:sp>
        <p:nvSpPr>
          <p:cNvPr id="27" name="Shape 25"/>
          <p:cNvSpPr/>
          <p:nvPr/>
        </p:nvSpPr>
        <p:spPr>
          <a:xfrm>
            <a:off x="4617720" y="4315968"/>
            <a:ext cx="4023360" cy="548640"/>
          </a:xfrm>
          <a:prstGeom prst="roundRect">
            <a:avLst>
              <a:gd name="adj" fmla="val 13333"/>
            </a:avLst>
          </a:prstGeom>
          <a:solidFill>
            <a:srgbClr val="2A0A0A"/>
          </a:solidFill>
          <a:ln w="12700">
            <a:solidFill>
              <a:srgbClr val="000000"/>
            </a:solidFill>
            <a:prstDash val="solid"/>
          </a:ln>
        </p:spPr>
      </p:sp>
      <p:sp>
        <p:nvSpPr>
          <p:cNvPr id="28" name="Text 26"/>
          <p:cNvSpPr/>
          <p:nvPr/>
        </p:nvSpPr>
        <p:spPr>
          <a:xfrm>
            <a:off x="4709160" y="4361688"/>
            <a:ext cx="3840480" cy="457200"/>
          </a:xfrm>
          <a:prstGeom prst="rect">
            <a:avLst/>
          </a:prstGeom>
          <a:noFill/>
          <a:ln/>
        </p:spPr>
        <p:txBody>
          <a:bodyPr wrap="square" rtlCol="0" anchor="ctr"/>
          <a:lstStyle/>
          <a:p>
            <a:pPr indent="0" marL="0">
              <a:buNone/>
            </a:pPr>
            <a:r>
              <a:rPr lang="en-US" sz="1100" dirty="0">
                <a:solidFill>
                  <a:srgbClr val="F8A0A0"/>
                </a:solidFill>
                <a:latin typeface="Arial" pitchFamily="34" charset="0"/>
                <a:ea typeface="Arial" pitchFamily="34" charset="-122"/>
                <a:cs typeface="Arial" pitchFamily="34" charset="-120"/>
              </a:rPr>
              <a:t>✅  Recommendation: URGENT — Contact doctor or go to ER today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3000" b="1" dirty="0">
                <a:solidFill>
                  <a:srgbClr val="0D1B2A"/>
                </a:solidFill>
                <a:latin typeface="Arial" pitchFamily="34" charset="0"/>
                <a:ea typeface="Arial" pitchFamily="34" charset="-122"/>
                <a:cs typeface="Arial" pitchFamily="34" charset="-120"/>
              </a:rPr>
              <a:t>Evaluation Results</a:t>
            </a:r>
            <a:endParaRPr lang="en-US" sz="3000" dirty="0"/>
          </a:p>
        </p:txBody>
      </p:sp>
      <p:sp>
        <p:nvSpPr>
          <p:cNvPr id="3" name="Shape 1"/>
          <p:cNvSpPr/>
          <p:nvPr/>
        </p:nvSpPr>
        <p:spPr>
          <a:xfrm>
            <a:off x="457200" y="1005840"/>
            <a:ext cx="1920240" cy="2011680"/>
          </a:xfrm>
          <a:prstGeom prst="roundRect">
            <a:avLst>
              <a:gd name="adj" fmla="val 7143"/>
            </a:avLst>
          </a:prstGeom>
          <a:solidFill>
            <a:srgbClr val="0D1B2A"/>
          </a:solidFill>
          <a:ln w="12700">
            <a:solidFill>
              <a:srgbClr val="0D1B2A"/>
            </a:solidFill>
            <a:prstDash val="solid"/>
          </a:ln>
          <a:effectLst>
            <a:outerShdw sx="100000" sy="100000" kx="0" ky="0" algn="bl" rotWithShape="0" blurRad="63500" dist="25400" dir="2700000">
              <a:srgbClr val="000000">
                <a:alpha val="13000"/>
              </a:srgbClr>
            </a:outerShdw>
          </a:effectLst>
        </p:spPr>
      </p:sp>
      <p:sp>
        <p:nvSpPr>
          <p:cNvPr id="4" name="Text 2"/>
          <p:cNvSpPr/>
          <p:nvPr/>
        </p:nvSpPr>
        <p:spPr>
          <a:xfrm>
            <a:off x="457200" y="1143000"/>
            <a:ext cx="1920240" cy="822960"/>
          </a:xfrm>
          <a:prstGeom prst="rect">
            <a:avLst/>
          </a:prstGeom>
          <a:noFill/>
          <a:ln/>
        </p:spPr>
        <p:txBody>
          <a:bodyPr wrap="square"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0.576</a:t>
            </a:r>
            <a:endParaRPr lang="en-US" sz="4200" dirty="0"/>
          </a:p>
        </p:txBody>
      </p:sp>
      <p:sp>
        <p:nvSpPr>
          <p:cNvPr id="5" name="Text 3"/>
          <p:cNvSpPr/>
          <p:nvPr/>
        </p:nvSpPr>
        <p:spPr>
          <a:xfrm>
            <a:off x="457200" y="1920240"/>
            <a:ext cx="19202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MRR</a:t>
            </a:r>
            <a:endParaRPr lang="en-US" sz="1600" dirty="0"/>
          </a:p>
        </p:txBody>
      </p:sp>
      <p:sp>
        <p:nvSpPr>
          <p:cNvPr id="6" name="Text 4"/>
          <p:cNvSpPr/>
          <p:nvPr/>
        </p:nvSpPr>
        <p:spPr>
          <a:xfrm>
            <a:off x="457200" y="2304288"/>
            <a:ext cx="1920240" cy="59436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Mean Reciprocal Rank</a:t>
            </a:r>
            <a:endParaRPr lang="en-US" sz="1100" dirty="0"/>
          </a:p>
          <a:p>
            <a:pPr algn="ctr" indent="0" marL="0">
              <a:buNone/>
            </a:pPr>
            <a:r>
              <a:rPr lang="en-US" sz="1100" dirty="0">
                <a:solidFill>
                  <a:srgbClr val="FFFFFF"/>
                </a:solidFill>
                <a:latin typeface="Arial" pitchFamily="34" charset="0"/>
                <a:ea typeface="Arial" pitchFamily="34" charset="-122"/>
                <a:cs typeface="Arial" pitchFamily="34" charset="-120"/>
              </a:rPr>
              <a:t>Top result is relevant</a:t>
            </a:r>
            <a:endParaRPr lang="en-US" sz="1100" dirty="0"/>
          </a:p>
        </p:txBody>
      </p:sp>
      <p:sp>
        <p:nvSpPr>
          <p:cNvPr id="7" name="Shape 5"/>
          <p:cNvSpPr/>
          <p:nvPr/>
        </p:nvSpPr>
        <p:spPr>
          <a:xfrm>
            <a:off x="2560320" y="1005840"/>
            <a:ext cx="1920240" cy="2011680"/>
          </a:xfrm>
          <a:prstGeom prst="roundRect">
            <a:avLst>
              <a:gd name="adj" fmla="val 7143"/>
            </a:avLst>
          </a:prstGeom>
          <a:solidFill>
            <a:srgbClr val="028090"/>
          </a:solidFill>
          <a:ln w="12700">
            <a:solidFill>
              <a:srgbClr val="028090"/>
            </a:solidFill>
            <a:prstDash val="solid"/>
          </a:ln>
          <a:effectLst>
            <a:outerShdw sx="100000" sy="100000" kx="0" ky="0" algn="bl" rotWithShape="0" blurRad="63500" dist="25400" dir="2700000">
              <a:srgbClr val="000000">
                <a:alpha val="13000"/>
              </a:srgbClr>
            </a:outerShdw>
          </a:effectLst>
        </p:spPr>
      </p:sp>
      <p:sp>
        <p:nvSpPr>
          <p:cNvPr id="8" name="Text 6"/>
          <p:cNvSpPr/>
          <p:nvPr/>
        </p:nvSpPr>
        <p:spPr>
          <a:xfrm>
            <a:off x="2560320" y="1143000"/>
            <a:ext cx="1920240" cy="822960"/>
          </a:xfrm>
          <a:prstGeom prst="rect">
            <a:avLst/>
          </a:prstGeom>
          <a:noFill/>
          <a:ln/>
        </p:spPr>
        <p:txBody>
          <a:bodyPr wrap="square"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0.55</a:t>
            </a:r>
            <a:endParaRPr lang="en-US" sz="4200" dirty="0"/>
          </a:p>
        </p:txBody>
      </p:sp>
      <p:sp>
        <p:nvSpPr>
          <p:cNvPr id="9" name="Text 7"/>
          <p:cNvSpPr/>
          <p:nvPr/>
        </p:nvSpPr>
        <p:spPr>
          <a:xfrm>
            <a:off x="2560320" y="1920240"/>
            <a:ext cx="19202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Recall@5</a:t>
            </a:r>
            <a:endParaRPr lang="en-US" sz="1600" dirty="0"/>
          </a:p>
        </p:txBody>
      </p:sp>
      <p:sp>
        <p:nvSpPr>
          <p:cNvPr id="10" name="Text 8"/>
          <p:cNvSpPr/>
          <p:nvPr/>
        </p:nvSpPr>
        <p:spPr>
          <a:xfrm>
            <a:off x="2560320" y="2304288"/>
            <a:ext cx="1920240" cy="59436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55% of gold chunks</a:t>
            </a:r>
            <a:endParaRPr lang="en-US" sz="1100" dirty="0"/>
          </a:p>
          <a:p>
            <a:pPr algn="ctr" indent="0" marL="0">
              <a:buNone/>
            </a:pPr>
            <a:r>
              <a:rPr lang="en-US" sz="1100" dirty="0">
                <a:solidFill>
                  <a:srgbClr val="FFFFFF"/>
                </a:solidFill>
                <a:latin typeface="Arial" pitchFamily="34" charset="0"/>
                <a:ea typeface="Arial" pitchFamily="34" charset="-122"/>
                <a:cs typeface="Arial" pitchFamily="34" charset="-120"/>
              </a:rPr>
              <a:t>in top 5 results</a:t>
            </a:r>
            <a:endParaRPr lang="en-US" sz="1100" dirty="0"/>
          </a:p>
        </p:txBody>
      </p:sp>
      <p:sp>
        <p:nvSpPr>
          <p:cNvPr id="11" name="Shape 9"/>
          <p:cNvSpPr/>
          <p:nvPr/>
        </p:nvSpPr>
        <p:spPr>
          <a:xfrm>
            <a:off x="4663440" y="1005840"/>
            <a:ext cx="1920240" cy="2011680"/>
          </a:xfrm>
          <a:prstGeom prst="roundRect">
            <a:avLst>
              <a:gd name="adj" fmla="val 7143"/>
            </a:avLst>
          </a:prstGeom>
          <a:solidFill>
            <a:srgbClr val="00A896"/>
          </a:solidFill>
          <a:ln w="12700">
            <a:solidFill>
              <a:srgbClr val="00A896"/>
            </a:solidFill>
            <a:prstDash val="solid"/>
          </a:ln>
          <a:effectLst>
            <a:outerShdw sx="100000" sy="100000" kx="0" ky="0" algn="bl" rotWithShape="0" blurRad="63500" dist="25400" dir="2700000">
              <a:srgbClr val="000000">
                <a:alpha val="13000"/>
              </a:srgbClr>
            </a:outerShdw>
          </a:effectLst>
        </p:spPr>
      </p:sp>
      <p:sp>
        <p:nvSpPr>
          <p:cNvPr id="12" name="Text 10"/>
          <p:cNvSpPr/>
          <p:nvPr/>
        </p:nvSpPr>
        <p:spPr>
          <a:xfrm>
            <a:off x="4663440" y="1143000"/>
            <a:ext cx="1920240" cy="822960"/>
          </a:xfrm>
          <a:prstGeom prst="rect">
            <a:avLst/>
          </a:prstGeom>
          <a:noFill/>
          <a:ln/>
        </p:spPr>
        <p:txBody>
          <a:bodyPr wrap="square"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9.3</a:t>
            </a:r>
            <a:endParaRPr lang="en-US" sz="4200" dirty="0"/>
          </a:p>
        </p:txBody>
      </p:sp>
      <p:sp>
        <p:nvSpPr>
          <p:cNvPr id="13" name="Text 11"/>
          <p:cNvSpPr/>
          <p:nvPr/>
        </p:nvSpPr>
        <p:spPr>
          <a:xfrm>
            <a:off x="4663440" y="1920240"/>
            <a:ext cx="19202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FK Grade</a:t>
            </a:r>
            <a:endParaRPr lang="en-US" sz="1600" dirty="0"/>
          </a:p>
        </p:txBody>
      </p:sp>
      <p:sp>
        <p:nvSpPr>
          <p:cNvPr id="14" name="Text 12"/>
          <p:cNvSpPr/>
          <p:nvPr/>
        </p:nvSpPr>
        <p:spPr>
          <a:xfrm>
            <a:off x="4663440" y="2304288"/>
            <a:ext cx="1920240" cy="59436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3 grades more readable</a:t>
            </a:r>
            <a:endParaRPr lang="en-US" sz="1100" dirty="0"/>
          </a:p>
          <a:p>
            <a:pPr algn="ctr" indent="0" marL="0">
              <a:buNone/>
            </a:pPr>
            <a:r>
              <a:rPr lang="en-US" sz="1100" dirty="0">
                <a:solidFill>
                  <a:srgbClr val="FFFFFF"/>
                </a:solidFill>
                <a:latin typeface="Arial" pitchFamily="34" charset="0"/>
                <a:ea typeface="Arial" pitchFamily="34" charset="-122"/>
                <a:cs typeface="Arial" pitchFamily="34" charset="-120"/>
              </a:rPr>
              <a:t>than raw clinical notes</a:t>
            </a:r>
            <a:endParaRPr lang="en-US" sz="1100" dirty="0"/>
          </a:p>
        </p:txBody>
      </p:sp>
      <p:sp>
        <p:nvSpPr>
          <p:cNvPr id="15" name="Shape 13"/>
          <p:cNvSpPr/>
          <p:nvPr/>
        </p:nvSpPr>
        <p:spPr>
          <a:xfrm>
            <a:off x="6766560" y="1005840"/>
            <a:ext cx="1920240" cy="2011680"/>
          </a:xfrm>
          <a:prstGeom prst="roundRect">
            <a:avLst>
              <a:gd name="adj" fmla="val 7143"/>
            </a:avLst>
          </a:prstGeom>
          <a:solidFill>
            <a:srgbClr val="04D4AA"/>
          </a:solidFill>
          <a:ln w="12700">
            <a:solidFill>
              <a:srgbClr val="04D4AA"/>
            </a:solidFill>
            <a:prstDash val="solid"/>
          </a:ln>
          <a:effectLst>
            <a:outerShdw sx="100000" sy="100000" kx="0" ky="0" algn="bl" rotWithShape="0" blurRad="63500" dist="25400" dir="2700000">
              <a:srgbClr val="000000">
                <a:alpha val="13000"/>
              </a:srgbClr>
            </a:outerShdw>
          </a:effectLst>
        </p:spPr>
      </p:sp>
      <p:sp>
        <p:nvSpPr>
          <p:cNvPr id="16" name="Text 14"/>
          <p:cNvSpPr/>
          <p:nvPr/>
        </p:nvSpPr>
        <p:spPr>
          <a:xfrm>
            <a:off x="6766560" y="1143000"/>
            <a:ext cx="1920240" cy="822960"/>
          </a:xfrm>
          <a:prstGeom prst="rect">
            <a:avLst/>
          </a:prstGeom>
          <a:noFill/>
          <a:ln/>
        </p:spPr>
        <p:txBody>
          <a:bodyPr wrap="square" rtlCol="0" anchor="ctr"/>
          <a:lstStyle/>
          <a:p>
            <a:pPr algn="ctr" indent="0" marL="0">
              <a:buNone/>
            </a:pPr>
            <a:r>
              <a:rPr lang="en-US" sz="4200" b="1" dirty="0">
                <a:solidFill>
                  <a:srgbClr val="FFFFFF"/>
                </a:solidFill>
                <a:latin typeface="Arial" pitchFamily="34" charset="0"/>
                <a:ea typeface="Arial" pitchFamily="34" charset="-122"/>
                <a:cs typeface="Arial" pitchFamily="34" charset="-120"/>
              </a:rPr>
              <a:t>49K+</a:t>
            </a:r>
            <a:endParaRPr lang="en-US" sz="4200" dirty="0"/>
          </a:p>
        </p:txBody>
      </p:sp>
      <p:sp>
        <p:nvSpPr>
          <p:cNvPr id="17" name="Text 15"/>
          <p:cNvSpPr/>
          <p:nvPr/>
        </p:nvSpPr>
        <p:spPr>
          <a:xfrm>
            <a:off x="6766560" y="1920240"/>
            <a:ext cx="1920240" cy="36576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Chunks</a:t>
            </a:r>
            <a:endParaRPr lang="en-US" sz="1600" dirty="0"/>
          </a:p>
        </p:txBody>
      </p:sp>
      <p:sp>
        <p:nvSpPr>
          <p:cNvPr id="18" name="Text 16"/>
          <p:cNvSpPr/>
          <p:nvPr/>
        </p:nvSpPr>
        <p:spPr>
          <a:xfrm>
            <a:off x="6766560" y="2304288"/>
            <a:ext cx="1920240" cy="594360"/>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Indexed from FDA, NIH,</a:t>
            </a:r>
            <a:endParaRPr lang="en-US" sz="1100" dirty="0"/>
          </a:p>
          <a:p>
            <a:pPr algn="ctr" indent="0" marL="0">
              <a:buNone/>
            </a:pPr>
            <a:r>
              <a:rPr lang="en-US" sz="1100" dirty="0">
                <a:solidFill>
                  <a:srgbClr val="FFFFFF"/>
                </a:solidFill>
                <a:latin typeface="Arial" pitchFamily="34" charset="0"/>
                <a:ea typeface="Arial" pitchFamily="34" charset="-122"/>
                <a:cs typeface="Arial" pitchFamily="34" charset="-120"/>
              </a:rPr>
              <a:t>PubMed, PLABA</a:t>
            </a:r>
            <a:endParaRPr lang="en-US" sz="1100" dirty="0"/>
          </a:p>
        </p:txBody>
      </p:sp>
      <p:sp>
        <p:nvSpPr>
          <p:cNvPr id="19" name="Shape 17"/>
          <p:cNvSpPr/>
          <p:nvPr/>
        </p:nvSpPr>
        <p:spPr>
          <a:xfrm>
            <a:off x="457200" y="3200400"/>
            <a:ext cx="8229600" cy="1600200"/>
          </a:xfrm>
          <a:prstGeom prst="roundRect">
            <a:avLst>
              <a:gd name="adj" fmla="val 6857"/>
            </a:avLst>
          </a:prstGeom>
          <a:solidFill>
            <a:srgbClr val="F0F4F8"/>
          </a:solidFill>
          <a:ln w="12700">
            <a:solidFill>
              <a:srgbClr val="E0E8F0"/>
            </a:solidFill>
            <a:prstDash val="solid"/>
          </a:ln>
        </p:spPr>
      </p:sp>
      <p:sp>
        <p:nvSpPr>
          <p:cNvPr id="20" name="Text 18"/>
          <p:cNvSpPr/>
          <p:nvPr/>
        </p:nvSpPr>
        <p:spPr>
          <a:xfrm>
            <a:off x="640080" y="3310128"/>
            <a:ext cx="7772400" cy="320040"/>
          </a:xfrm>
          <a:prstGeom prst="rect">
            <a:avLst/>
          </a:prstGeom>
          <a:noFill/>
          <a:ln/>
        </p:spPr>
        <p:txBody>
          <a:bodyPr wrap="square" rtlCol="0" anchor="ctr"/>
          <a:lstStyle/>
          <a:p>
            <a:pPr indent="0" marL="0">
              <a:buNone/>
            </a:pPr>
            <a:r>
              <a:rPr lang="en-US" sz="1400" b="1" dirty="0">
                <a:solidFill>
                  <a:srgbClr val="0D1B2A"/>
                </a:solidFill>
                <a:latin typeface="Arial" pitchFamily="34" charset="0"/>
                <a:ea typeface="Arial" pitchFamily="34" charset="-122"/>
                <a:cs typeface="Arial" pitchFamily="34" charset="-120"/>
              </a:rPr>
              <a:t>What these numbers mean for Cotiviti:</a:t>
            </a:r>
            <a:endParaRPr lang="en-US" sz="1400" dirty="0"/>
          </a:p>
        </p:txBody>
      </p:sp>
      <p:sp>
        <p:nvSpPr>
          <p:cNvPr id="21" name="Text 19"/>
          <p:cNvSpPr/>
          <p:nvPr/>
        </p:nvSpPr>
        <p:spPr>
          <a:xfrm>
            <a:off x="640080" y="3675888"/>
            <a:ext cx="7772400" cy="1005840"/>
          </a:xfrm>
          <a:prstGeom prst="rect">
            <a:avLst/>
          </a:prstGeom>
          <a:noFill/>
          <a:ln/>
        </p:spPr>
        <p:txBody>
          <a:bodyPr wrap="square" rtlCol="0" anchor="ctr"/>
          <a:lstStyle/>
          <a:p>
            <a:pPr indent="0" marL="0">
              <a:buNone/>
            </a:pPr>
            <a:r>
              <a:rPr lang="en-US" sz="1300" b="1" dirty="0">
                <a:solidFill>
                  <a:srgbClr val="0D1B2A"/>
                </a:solidFill>
                <a:latin typeface="Arial" pitchFamily="34" charset="0"/>
                <a:ea typeface="Arial" pitchFamily="34" charset="-122"/>
                <a:cs typeface="Arial" pitchFamily="34" charset="-120"/>
              </a:rPr>
              <a:t>MRR 0.576 </a:t>
            </a:r>
            <a:pPr indent="0" marL="0">
              <a:buNone/>
            </a:pPr>
            <a:r>
              <a:rPr lang="en-US" sz="1300" dirty="0">
                <a:solidFill>
                  <a:srgbClr val="2D3A4A"/>
                </a:solidFill>
                <a:latin typeface="Arial" pitchFamily="34" charset="0"/>
                <a:ea typeface="Arial" pitchFamily="34" charset="-122"/>
                <a:cs typeface="Arial" pitchFamily="34" charset="-120"/>
              </a:rPr>
              <a:t>means the most relevant evidence surfaces in the top 2 results on average — accurate grounding for every response.  </a:t>
            </a:r>
            <a:pPr indent="0" marL="0">
              <a:buNone/>
            </a:pPr>
            <a:r>
              <a:rPr lang="en-US" sz="1300" b="1" dirty="0">
                <a:solidFill>
                  <a:srgbClr val="0D1B2A"/>
                </a:solidFill>
                <a:latin typeface="Arial" pitchFamily="34" charset="0"/>
                <a:ea typeface="Arial" pitchFamily="34" charset="-122"/>
                <a:cs typeface="Arial" pitchFamily="34" charset="-120"/>
              </a:rPr>
              <a:t>FK Grade 9.3 </a:t>
            </a:r>
            <a:pPr indent="0" marL="0">
              <a:buNone/>
            </a:pPr>
            <a:r>
              <a:rPr lang="en-US" sz="1300" dirty="0">
                <a:solidFill>
                  <a:srgbClr val="2D3A4A"/>
                </a:solidFill>
                <a:latin typeface="Arial" pitchFamily="34" charset="0"/>
                <a:ea typeface="Arial" pitchFamily="34" charset="-122"/>
                <a:cs typeface="Arial" pitchFamily="34" charset="-120"/>
              </a:rPr>
              <a:t>means outputs are 3 grade levels more readable than raw clinical notes — directly bridging the patient literacy gap.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3000" b="1" dirty="0">
                <a:solidFill>
                  <a:srgbClr val="0D1B2A"/>
                </a:solidFill>
                <a:latin typeface="Arial" pitchFamily="34" charset="0"/>
                <a:ea typeface="Arial" pitchFamily="34" charset="-122"/>
                <a:cs typeface="Arial" pitchFamily="34" charset="-120"/>
              </a:rPr>
              <a:t>What Cotiviti Should Do</a:t>
            </a:r>
            <a:endParaRPr lang="en-US" sz="3000" dirty="0"/>
          </a:p>
        </p:txBody>
      </p:sp>
      <p:sp>
        <p:nvSpPr>
          <p:cNvPr id="3" name="Shape 1"/>
          <p:cNvSpPr/>
          <p:nvPr/>
        </p:nvSpPr>
        <p:spPr>
          <a:xfrm>
            <a:off x="365760" y="960120"/>
            <a:ext cx="8412480" cy="1234440"/>
          </a:xfrm>
          <a:prstGeom prst="roundRect">
            <a:avLst>
              <a:gd name="adj" fmla="val 8889"/>
            </a:avLst>
          </a:prstGeom>
          <a:solidFill>
            <a:srgbClr val="FFFFFF"/>
          </a:solidFill>
          <a:ln w="12700">
            <a:solidFill>
              <a:srgbClr val="E0E8F0"/>
            </a:solidFill>
            <a:prstDash val="solid"/>
          </a:ln>
          <a:effectLst>
            <a:outerShdw sx="100000" sy="100000" kx="0" ky="0" algn="bl" rotWithShape="0" blurRad="63500" dist="25400" dir="2700000">
              <a:srgbClr val="000000">
                <a:alpha val="13000"/>
              </a:srgbClr>
            </a:outerShdw>
          </a:effectLst>
        </p:spPr>
      </p:sp>
      <p:sp>
        <p:nvSpPr>
          <p:cNvPr id="4" name="Shape 2"/>
          <p:cNvSpPr/>
          <p:nvPr/>
        </p:nvSpPr>
        <p:spPr>
          <a:xfrm>
            <a:off x="457200" y="1234440"/>
            <a:ext cx="640080" cy="640080"/>
          </a:xfrm>
          <a:prstGeom prst="ellipse">
            <a:avLst/>
          </a:prstGeom>
          <a:solidFill>
            <a:srgbClr val="0D1B2A"/>
          </a:solidFill>
          <a:ln w="12700">
            <a:solidFill>
              <a:srgbClr val="0D1B2A"/>
            </a:solidFill>
            <a:prstDash val="solid"/>
          </a:ln>
        </p:spPr>
      </p:sp>
      <p:sp>
        <p:nvSpPr>
          <p:cNvPr id="5" name="Text 3"/>
          <p:cNvSpPr/>
          <p:nvPr/>
        </p:nvSpPr>
        <p:spPr>
          <a:xfrm>
            <a:off x="457200" y="1234440"/>
            <a:ext cx="640080" cy="64008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01</a:t>
            </a:r>
            <a:endParaRPr lang="en-US" sz="1700" dirty="0"/>
          </a:p>
        </p:txBody>
      </p:sp>
      <p:sp>
        <p:nvSpPr>
          <p:cNvPr id="6" name="Text 4"/>
          <p:cNvSpPr/>
          <p:nvPr/>
        </p:nvSpPr>
        <p:spPr>
          <a:xfrm>
            <a:off x="1261872" y="1051560"/>
            <a:ext cx="7315200" cy="347472"/>
          </a:xfrm>
          <a:prstGeom prst="rect">
            <a:avLst/>
          </a:prstGeom>
          <a:noFill/>
          <a:ln/>
        </p:spPr>
        <p:txBody>
          <a:bodyPr wrap="square" rtlCol="0" anchor="ctr"/>
          <a:lstStyle/>
          <a:p>
            <a:pPr indent="0" marL="0">
              <a:buNone/>
            </a:pPr>
            <a:r>
              <a:rPr lang="en-US" sz="1400" b="1" dirty="0">
                <a:solidFill>
                  <a:srgbClr val="0D1B2A"/>
                </a:solidFill>
                <a:latin typeface="Arial" pitchFamily="34" charset="0"/>
                <a:ea typeface="Arial" pitchFamily="34" charset="-122"/>
                <a:cs typeface="Arial" pitchFamily="34" charset="-120"/>
              </a:rPr>
              <a:t>Build a Proprietary Clinical RAG Platform</a:t>
            </a:r>
            <a:endParaRPr lang="en-US" sz="1400" dirty="0"/>
          </a:p>
        </p:txBody>
      </p:sp>
      <p:sp>
        <p:nvSpPr>
          <p:cNvPr id="7" name="Text 5"/>
          <p:cNvSpPr/>
          <p:nvPr/>
        </p:nvSpPr>
        <p:spPr>
          <a:xfrm>
            <a:off x="1261872" y="1435608"/>
            <a:ext cx="7315200" cy="658368"/>
          </a:xfrm>
          <a:prstGeom prst="rect">
            <a:avLst/>
          </a:prstGeom>
          <a:noFill/>
          <a:ln/>
        </p:spPr>
        <p:txBody>
          <a:bodyPr wrap="square" rtlCol="0" anchor="ctr"/>
          <a:lstStyle/>
          <a:p>
            <a:pPr indent="0" marL="0">
              <a:buNone/>
            </a:pPr>
            <a:r>
              <a:rPr lang="en-US" sz="1150" dirty="0">
                <a:solidFill>
                  <a:srgbClr val="2D3A4A"/>
                </a:solidFill>
                <a:latin typeface="Arial" pitchFamily="34" charset="0"/>
                <a:ea typeface="Arial" pitchFamily="34" charset="-122"/>
                <a:cs typeface="Arial" pitchFamily="34" charset="-120"/>
              </a:rPr>
              <a:t>Invest in local, open-source retrieval over Cotiviti's own claims and clinical corpus — the same architecture in ClearDischarge. Foundation for all downstream agentic applications: prior auth, discharge risk, coding policy. On-premises = HIPAA compliant.</a:t>
            </a:r>
            <a:endParaRPr lang="en-US" sz="1150" dirty="0"/>
          </a:p>
        </p:txBody>
      </p:sp>
      <p:sp>
        <p:nvSpPr>
          <p:cNvPr id="8" name="Shape 6"/>
          <p:cNvSpPr/>
          <p:nvPr/>
        </p:nvSpPr>
        <p:spPr>
          <a:xfrm>
            <a:off x="365760" y="2331720"/>
            <a:ext cx="8412480" cy="1234440"/>
          </a:xfrm>
          <a:prstGeom prst="roundRect">
            <a:avLst>
              <a:gd name="adj" fmla="val 8889"/>
            </a:avLst>
          </a:prstGeom>
          <a:solidFill>
            <a:srgbClr val="FFFFFF"/>
          </a:solidFill>
          <a:ln w="12700">
            <a:solidFill>
              <a:srgbClr val="E0E8F0"/>
            </a:solidFill>
            <a:prstDash val="solid"/>
          </a:ln>
          <a:effectLst>
            <a:outerShdw sx="100000" sy="100000" kx="0" ky="0" algn="bl" rotWithShape="0" blurRad="63500" dist="25400" dir="2700000">
              <a:srgbClr val="000000">
                <a:alpha val="13000"/>
              </a:srgbClr>
            </a:outerShdw>
          </a:effectLst>
        </p:spPr>
      </p:sp>
      <p:sp>
        <p:nvSpPr>
          <p:cNvPr id="9" name="Shape 7"/>
          <p:cNvSpPr/>
          <p:nvPr/>
        </p:nvSpPr>
        <p:spPr>
          <a:xfrm>
            <a:off x="457200" y="2606040"/>
            <a:ext cx="640080" cy="640080"/>
          </a:xfrm>
          <a:prstGeom prst="ellipse">
            <a:avLst/>
          </a:prstGeom>
          <a:solidFill>
            <a:srgbClr val="028090"/>
          </a:solidFill>
          <a:ln w="12700">
            <a:solidFill>
              <a:srgbClr val="028090"/>
            </a:solidFill>
            <a:prstDash val="solid"/>
          </a:ln>
        </p:spPr>
      </p:sp>
      <p:sp>
        <p:nvSpPr>
          <p:cNvPr id="10" name="Text 8"/>
          <p:cNvSpPr/>
          <p:nvPr/>
        </p:nvSpPr>
        <p:spPr>
          <a:xfrm>
            <a:off x="457200" y="2606040"/>
            <a:ext cx="640080" cy="64008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02</a:t>
            </a:r>
            <a:endParaRPr lang="en-US" sz="1700" dirty="0"/>
          </a:p>
        </p:txBody>
      </p:sp>
      <p:sp>
        <p:nvSpPr>
          <p:cNvPr id="11" name="Text 9"/>
          <p:cNvSpPr/>
          <p:nvPr/>
        </p:nvSpPr>
        <p:spPr>
          <a:xfrm>
            <a:off x="1261872" y="2423160"/>
            <a:ext cx="7315200" cy="347472"/>
          </a:xfrm>
          <a:prstGeom prst="rect">
            <a:avLst/>
          </a:prstGeom>
          <a:noFill/>
          <a:ln/>
        </p:spPr>
        <p:txBody>
          <a:bodyPr wrap="square" rtlCol="0" anchor="ctr"/>
          <a:lstStyle/>
          <a:p>
            <a:pPr indent="0" marL="0">
              <a:buNone/>
            </a:pPr>
            <a:r>
              <a:rPr lang="en-US" sz="1400" b="1" dirty="0">
                <a:solidFill>
                  <a:srgbClr val="0D1B2A"/>
                </a:solidFill>
                <a:latin typeface="Arial" pitchFamily="34" charset="0"/>
                <a:ea typeface="Arial" pitchFamily="34" charset="-122"/>
                <a:cs typeface="Arial" pitchFamily="34" charset="-120"/>
              </a:rPr>
              <a:t>Productize Discharge Risk Scoring + Vitals Monitoring</a:t>
            </a:r>
            <a:endParaRPr lang="en-US" sz="1400" dirty="0"/>
          </a:p>
        </p:txBody>
      </p:sp>
      <p:sp>
        <p:nvSpPr>
          <p:cNvPr id="12" name="Text 10"/>
          <p:cNvSpPr/>
          <p:nvPr/>
        </p:nvSpPr>
        <p:spPr>
          <a:xfrm>
            <a:off x="1261872" y="2807208"/>
            <a:ext cx="7315200" cy="658368"/>
          </a:xfrm>
          <a:prstGeom prst="rect">
            <a:avLst/>
          </a:prstGeom>
          <a:noFill/>
          <a:ln/>
        </p:spPr>
        <p:txBody>
          <a:bodyPr wrap="square" rtlCol="0" anchor="ctr"/>
          <a:lstStyle/>
          <a:p>
            <a:pPr indent="0" marL="0">
              <a:buNone/>
            </a:pPr>
            <a:r>
              <a:rPr lang="en-US" sz="1150" dirty="0">
                <a:solidFill>
                  <a:srgbClr val="2D3A4A"/>
                </a:solidFill>
                <a:latin typeface="Arial" pitchFamily="34" charset="0"/>
                <a:ea typeface="Arial" pitchFamily="34" charset="-122"/>
                <a:cs typeface="Arial" pitchFamily="34" charset="-120"/>
              </a:rPr>
              <a:t>Take the risk scorer, agentic router, and vitals anomaly detector from ClearDischarge and build them into a product health system clients deploy at and after discharge. Flag high-risk patients at discharge, monitor post-discharge vitals, intervene before readmission.</a:t>
            </a:r>
            <a:endParaRPr lang="en-US" sz="1150" dirty="0"/>
          </a:p>
        </p:txBody>
      </p:sp>
      <p:sp>
        <p:nvSpPr>
          <p:cNvPr id="13" name="Shape 11"/>
          <p:cNvSpPr/>
          <p:nvPr/>
        </p:nvSpPr>
        <p:spPr>
          <a:xfrm>
            <a:off x="365760" y="3703320"/>
            <a:ext cx="8412480" cy="1234440"/>
          </a:xfrm>
          <a:prstGeom prst="roundRect">
            <a:avLst>
              <a:gd name="adj" fmla="val 8889"/>
            </a:avLst>
          </a:prstGeom>
          <a:solidFill>
            <a:srgbClr val="FFFFFF"/>
          </a:solidFill>
          <a:ln w="12700">
            <a:solidFill>
              <a:srgbClr val="E0E8F0"/>
            </a:solidFill>
            <a:prstDash val="solid"/>
          </a:ln>
          <a:effectLst>
            <a:outerShdw sx="100000" sy="100000" kx="0" ky="0" algn="bl" rotWithShape="0" blurRad="63500" dist="25400" dir="2700000">
              <a:srgbClr val="000000">
                <a:alpha val="13000"/>
              </a:srgbClr>
            </a:outerShdw>
          </a:effectLst>
        </p:spPr>
      </p:sp>
      <p:sp>
        <p:nvSpPr>
          <p:cNvPr id="14" name="Shape 12"/>
          <p:cNvSpPr/>
          <p:nvPr/>
        </p:nvSpPr>
        <p:spPr>
          <a:xfrm>
            <a:off x="457200" y="3977640"/>
            <a:ext cx="640080" cy="640080"/>
          </a:xfrm>
          <a:prstGeom prst="ellipse">
            <a:avLst/>
          </a:prstGeom>
          <a:solidFill>
            <a:srgbClr val="00A896"/>
          </a:solidFill>
          <a:ln w="12700">
            <a:solidFill>
              <a:srgbClr val="00A896"/>
            </a:solidFill>
            <a:prstDash val="solid"/>
          </a:ln>
        </p:spPr>
      </p:sp>
      <p:sp>
        <p:nvSpPr>
          <p:cNvPr id="15" name="Text 13"/>
          <p:cNvSpPr/>
          <p:nvPr/>
        </p:nvSpPr>
        <p:spPr>
          <a:xfrm>
            <a:off x="457200" y="3977640"/>
            <a:ext cx="640080" cy="640080"/>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03</a:t>
            </a:r>
            <a:endParaRPr lang="en-US" sz="1700" dirty="0"/>
          </a:p>
        </p:txBody>
      </p:sp>
      <p:sp>
        <p:nvSpPr>
          <p:cNvPr id="16" name="Text 14"/>
          <p:cNvSpPr/>
          <p:nvPr/>
        </p:nvSpPr>
        <p:spPr>
          <a:xfrm>
            <a:off x="1261872" y="3794760"/>
            <a:ext cx="7315200" cy="347472"/>
          </a:xfrm>
          <a:prstGeom prst="rect">
            <a:avLst/>
          </a:prstGeom>
          <a:noFill/>
          <a:ln/>
        </p:spPr>
        <p:txBody>
          <a:bodyPr wrap="square" rtlCol="0" anchor="ctr"/>
          <a:lstStyle/>
          <a:p>
            <a:pPr indent="0" marL="0">
              <a:buNone/>
            </a:pPr>
            <a:r>
              <a:rPr lang="en-US" sz="1400" b="1" dirty="0">
                <a:solidFill>
                  <a:srgbClr val="0D1B2A"/>
                </a:solidFill>
                <a:latin typeface="Arial" pitchFamily="34" charset="0"/>
                <a:ea typeface="Arial" pitchFamily="34" charset="-122"/>
                <a:cs typeface="Arial" pitchFamily="34" charset="-120"/>
              </a:rPr>
              <a:t>Build AI Governance Infrastructure Now</a:t>
            </a:r>
            <a:endParaRPr lang="en-US" sz="1400" dirty="0"/>
          </a:p>
        </p:txBody>
      </p:sp>
      <p:sp>
        <p:nvSpPr>
          <p:cNvPr id="17" name="Text 15"/>
          <p:cNvSpPr/>
          <p:nvPr/>
        </p:nvSpPr>
        <p:spPr>
          <a:xfrm>
            <a:off x="1261872" y="4178808"/>
            <a:ext cx="7315200" cy="658368"/>
          </a:xfrm>
          <a:prstGeom prst="rect">
            <a:avLst/>
          </a:prstGeom>
          <a:noFill/>
          <a:ln/>
        </p:spPr>
        <p:txBody>
          <a:bodyPr wrap="square" rtlCol="0" anchor="ctr"/>
          <a:lstStyle/>
          <a:p>
            <a:pPr indent="0" marL="0">
              <a:buNone/>
            </a:pPr>
            <a:r>
              <a:rPr lang="en-US" sz="1150" dirty="0">
                <a:solidFill>
                  <a:srgbClr val="2D3A4A"/>
                </a:solidFill>
                <a:latin typeface="Arial" pitchFamily="34" charset="0"/>
                <a:ea typeface="Arial" pitchFamily="34" charset="-122"/>
                <a:cs typeface="Arial" pitchFamily="34" charset="-120"/>
              </a:rPr>
              <a:t>Mandatory RAG provenance tracking, hallucination benchmarking, and bias auditing before scaling any clinical AI deployment. In healthcare, governance is what makes AI trustworthy enough to use. Getting ahead of CMS and FDA rules is a competitive differentiator.</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00A896">
              <a:alpha val="18000"/>
            </a:srgbClr>
          </a:solidFill>
          <a:ln w="12700">
            <a:solidFill>
              <a:srgbClr val="00A896">
                <a:alpha val="18000"/>
              </a:srgbClr>
            </a:solidFill>
            <a:prstDash val="solid"/>
          </a:ln>
        </p:spPr>
      </p:sp>
      <p:sp>
        <p:nvSpPr>
          <p:cNvPr id="3" name="Shape 1"/>
          <p:cNvSpPr/>
          <p:nvPr/>
        </p:nvSpPr>
        <p:spPr>
          <a:xfrm>
            <a:off x="-731520" y="3200400"/>
            <a:ext cx="2560320" cy="2560320"/>
          </a:xfrm>
          <a:prstGeom prst="ellipse">
            <a:avLst/>
          </a:prstGeom>
          <a:solidFill>
            <a:srgbClr val="02C39A">
              <a:alpha val="15000"/>
            </a:srgbClr>
          </a:solidFill>
          <a:ln w="12700">
            <a:solidFill>
              <a:srgbClr val="02C39A">
                <a:alpha val="15000"/>
              </a:srgbClr>
            </a:solidFill>
            <a:prstDash val="solid"/>
          </a:ln>
        </p:spPr>
      </p:sp>
      <p:sp>
        <p:nvSpPr>
          <p:cNvPr id="4" name="Text 2"/>
          <p:cNvSpPr/>
          <p:nvPr/>
        </p:nvSpPr>
        <p:spPr>
          <a:xfrm>
            <a:off x="640080" y="457200"/>
            <a:ext cx="7863840" cy="54864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Key Takeaways</a:t>
            </a:r>
            <a:endParaRPr lang="en-US" sz="3200" dirty="0"/>
          </a:p>
        </p:txBody>
      </p:sp>
      <p:sp>
        <p:nvSpPr>
          <p:cNvPr id="5" name="Shape 3"/>
          <p:cNvSpPr/>
          <p:nvPr/>
        </p:nvSpPr>
        <p:spPr>
          <a:xfrm>
            <a:off x="640080" y="1344168"/>
            <a:ext cx="329184" cy="329184"/>
          </a:xfrm>
          <a:prstGeom prst="ellipse">
            <a:avLst/>
          </a:prstGeom>
          <a:solidFill>
            <a:srgbClr val="00A896"/>
          </a:solidFill>
          <a:ln w="12700">
            <a:solidFill>
              <a:srgbClr val="00A896"/>
            </a:solidFill>
            <a:prstDash val="solid"/>
          </a:ln>
        </p:spPr>
      </p:sp>
      <p:sp>
        <p:nvSpPr>
          <p:cNvPr id="6" name="Text 4"/>
          <p:cNvSpPr/>
          <p:nvPr/>
        </p:nvSpPr>
        <p:spPr>
          <a:xfrm>
            <a:off x="640080" y="1344168"/>
            <a:ext cx="329184"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115568" y="1234440"/>
            <a:ext cx="7589520" cy="694944"/>
          </a:xfrm>
          <a:prstGeom prst="rect">
            <a:avLst/>
          </a:prstGeom>
          <a:noFill/>
          <a:ln/>
        </p:spPr>
        <p:txBody>
          <a:bodyPr wrap="square" rtlCol="0" anchor="ctr"/>
          <a:lstStyle/>
          <a:p>
            <a:pPr indent="0" marL="0">
              <a:buNone/>
            </a:pPr>
            <a:r>
              <a:rPr lang="en-US" sz="1300" dirty="0">
                <a:solidFill>
                  <a:srgbClr val="8899AA"/>
                </a:solidFill>
                <a:latin typeface="Arial" pitchFamily="34" charset="0"/>
                <a:ea typeface="Arial" pitchFamily="34" charset="-122"/>
                <a:cs typeface="Arial" pitchFamily="34" charset="-120"/>
              </a:rPr>
              <a:t>ClearDischarge demonstrates classification, agentic routing, readmission prediction, and time-series anomaly detection — all four Topic 2 primitives — working end-to-end.</a:t>
            </a:r>
            <a:endParaRPr lang="en-US" sz="1300" dirty="0"/>
          </a:p>
        </p:txBody>
      </p:sp>
      <p:sp>
        <p:nvSpPr>
          <p:cNvPr id="8" name="Shape 6"/>
          <p:cNvSpPr/>
          <p:nvPr/>
        </p:nvSpPr>
        <p:spPr>
          <a:xfrm>
            <a:off x="640080" y="2167128"/>
            <a:ext cx="329184" cy="329184"/>
          </a:xfrm>
          <a:prstGeom prst="ellipse">
            <a:avLst/>
          </a:prstGeom>
          <a:solidFill>
            <a:srgbClr val="00A896"/>
          </a:solidFill>
          <a:ln w="12700">
            <a:solidFill>
              <a:srgbClr val="00A896"/>
            </a:solidFill>
            <a:prstDash val="solid"/>
          </a:ln>
        </p:spPr>
      </p:sp>
      <p:sp>
        <p:nvSpPr>
          <p:cNvPr id="9" name="Text 7"/>
          <p:cNvSpPr/>
          <p:nvPr/>
        </p:nvSpPr>
        <p:spPr>
          <a:xfrm>
            <a:off x="640080" y="2167128"/>
            <a:ext cx="329184"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1115568" y="2057400"/>
            <a:ext cx="7589520" cy="694944"/>
          </a:xfrm>
          <a:prstGeom prst="rect">
            <a:avLst/>
          </a:prstGeom>
          <a:noFill/>
          <a:ln/>
        </p:spPr>
        <p:txBody>
          <a:bodyPr wrap="square" rtlCol="0" anchor="ctr"/>
          <a:lstStyle/>
          <a:p>
            <a:pPr indent="0" marL="0">
              <a:buNone/>
            </a:pPr>
            <a:r>
              <a:rPr lang="en-US" sz="1300" dirty="0">
                <a:solidFill>
                  <a:srgbClr val="8899AA"/>
                </a:solidFill>
                <a:latin typeface="Arial" pitchFamily="34" charset="0"/>
                <a:ea typeface="Arial" pitchFamily="34" charset="-122"/>
                <a:cs typeface="Arial" pitchFamily="34" charset="-120"/>
              </a:rPr>
              <a:t>Module 1 makes discharge notes understandable for patients. Module 2 monitors post-discharge vitals and detects dangerous trends before they cause readmission.</a:t>
            </a:r>
            <a:endParaRPr lang="en-US" sz="1300" dirty="0"/>
          </a:p>
        </p:txBody>
      </p:sp>
      <p:sp>
        <p:nvSpPr>
          <p:cNvPr id="11" name="Shape 9"/>
          <p:cNvSpPr/>
          <p:nvPr/>
        </p:nvSpPr>
        <p:spPr>
          <a:xfrm>
            <a:off x="640080" y="2990088"/>
            <a:ext cx="329184" cy="329184"/>
          </a:xfrm>
          <a:prstGeom prst="ellipse">
            <a:avLst/>
          </a:prstGeom>
          <a:solidFill>
            <a:srgbClr val="00A896"/>
          </a:solidFill>
          <a:ln w="12700">
            <a:solidFill>
              <a:srgbClr val="00A896"/>
            </a:solidFill>
            <a:prstDash val="solid"/>
          </a:ln>
        </p:spPr>
      </p:sp>
      <p:sp>
        <p:nvSpPr>
          <p:cNvPr id="12" name="Text 10"/>
          <p:cNvSpPr/>
          <p:nvPr/>
        </p:nvSpPr>
        <p:spPr>
          <a:xfrm>
            <a:off x="640080" y="2990088"/>
            <a:ext cx="329184"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3" name="Text 11"/>
          <p:cNvSpPr/>
          <p:nvPr/>
        </p:nvSpPr>
        <p:spPr>
          <a:xfrm>
            <a:off x="1115568" y="2880360"/>
            <a:ext cx="7589520" cy="694944"/>
          </a:xfrm>
          <a:prstGeom prst="rect">
            <a:avLst/>
          </a:prstGeom>
          <a:noFill/>
          <a:ln/>
        </p:spPr>
        <p:txBody>
          <a:bodyPr wrap="square" rtlCol="0" anchor="ctr"/>
          <a:lstStyle/>
          <a:p>
            <a:pPr indent="0" marL="0">
              <a:buNone/>
            </a:pPr>
            <a:r>
              <a:rPr lang="en-US" sz="1300" dirty="0">
                <a:solidFill>
                  <a:srgbClr val="8899AA"/>
                </a:solidFill>
                <a:latin typeface="Arial" pitchFamily="34" charset="0"/>
                <a:ea typeface="Arial" pitchFamily="34" charset="-122"/>
                <a:cs typeface="Arial" pitchFamily="34" charset="-120"/>
              </a:rPr>
              <a:t>The business case is concrete: 1 in 5 Medicare readmissions, $17.4B annual cost, a patient literacy gap AI can close.</a:t>
            </a:r>
            <a:endParaRPr lang="en-US" sz="1300" dirty="0"/>
          </a:p>
        </p:txBody>
      </p:sp>
      <p:sp>
        <p:nvSpPr>
          <p:cNvPr id="14" name="Shape 12"/>
          <p:cNvSpPr/>
          <p:nvPr/>
        </p:nvSpPr>
        <p:spPr>
          <a:xfrm>
            <a:off x="640080" y="3813048"/>
            <a:ext cx="329184" cy="329184"/>
          </a:xfrm>
          <a:prstGeom prst="ellipse">
            <a:avLst/>
          </a:prstGeom>
          <a:solidFill>
            <a:srgbClr val="00A896"/>
          </a:solidFill>
          <a:ln w="12700">
            <a:solidFill>
              <a:srgbClr val="00A896"/>
            </a:solidFill>
            <a:prstDash val="solid"/>
          </a:ln>
        </p:spPr>
      </p:sp>
      <p:sp>
        <p:nvSpPr>
          <p:cNvPr id="15" name="Text 13"/>
          <p:cNvSpPr/>
          <p:nvPr/>
        </p:nvSpPr>
        <p:spPr>
          <a:xfrm>
            <a:off x="640080" y="3813048"/>
            <a:ext cx="329184"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6" name="Text 14"/>
          <p:cNvSpPr/>
          <p:nvPr/>
        </p:nvSpPr>
        <p:spPr>
          <a:xfrm>
            <a:off x="1115568" y="3703320"/>
            <a:ext cx="7589520" cy="694944"/>
          </a:xfrm>
          <a:prstGeom prst="rect">
            <a:avLst/>
          </a:prstGeom>
          <a:noFill/>
          <a:ln/>
        </p:spPr>
        <p:txBody>
          <a:bodyPr wrap="square" rtlCol="0" anchor="ctr"/>
          <a:lstStyle/>
          <a:p>
            <a:pPr indent="0" marL="0">
              <a:buNone/>
            </a:pPr>
            <a:r>
              <a:rPr lang="en-US" sz="1300" dirty="0">
                <a:solidFill>
                  <a:srgbClr val="8899AA"/>
                </a:solidFill>
                <a:latin typeface="Arial" pitchFamily="34" charset="0"/>
                <a:ea typeface="Arial" pitchFamily="34" charset="-122"/>
                <a:cs typeface="Arial" pitchFamily="34" charset="-120"/>
              </a:rPr>
              <a:t>Cotiviti's position — payer relationships, claims data, TPO focus — is the right foundation to lead in clinical agentic AI.</a:t>
            </a:r>
            <a:endParaRPr lang="en-US" sz="1300" dirty="0"/>
          </a:p>
        </p:txBody>
      </p:sp>
      <p:sp>
        <p:nvSpPr>
          <p:cNvPr id="17" name="Text 15"/>
          <p:cNvSpPr/>
          <p:nvPr/>
        </p:nvSpPr>
        <p:spPr>
          <a:xfrm>
            <a:off x="640080" y="4663440"/>
            <a:ext cx="7863840" cy="292608"/>
          </a:xfrm>
          <a:prstGeom prst="rect">
            <a:avLst/>
          </a:prstGeom>
          <a:noFill/>
          <a:ln/>
        </p:spPr>
        <p:txBody>
          <a:bodyPr wrap="square" rtlCol="0" anchor="ctr"/>
          <a:lstStyle/>
          <a:p>
            <a:pPr indent="0" marL="0">
              <a:buNone/>
            </a:pPr>
            <a:r>
              <a:rPr lang="en-US" sz="1200" dirty="0">
                <a:solidFill>
                  <a:srgbClr val="8899AA"/>
                </a:solidFill>
                <a:latin typeface="Arial" pitchFamily="34" charset="0"/>
                <a:ea typeface="Arial" pitchFamily="34" charset="-122"/>
                <a:cs typeface="Arial" pitchFamily="34" charset="-120"/>
              </a:rPr>
              <a:t>Fnu Ramyashree  |  Cotiviti Intern Assessment  |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ClearDischarge — Clinical Decision Making &amp; Agentic AI</dc:title>
  <dc:subject>PptxGenJS Presentation</dc:subject>
  <dc:creator>Fnu Ramyashree</dc:creator>
  <cp:lastModifiedBy>Fnu Ramyashree</cp:lastModifiedBy>
  <cp:revision>1</cp:revision>
  <dcterms:created xsi:type="dcterms:W3CDTF">2026-06-29T05:54:16Z</dcterms:created>
  <dcterms:modified xsi:type="dcterms:W3CDTF">2026-06-29T05:54:16Z</dcterms:modified>
</cp:coreProperties>
</file>